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B949E"/>
                </a:solidFill>
              </a:rPr>
              <a:t>MYCELIUM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1672" y="16459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B949E"/>
                </a:solidFill>
              </a:rPr>
              <a:t>01 / 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45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>
                <a:solidFill>
                  <a:srgbClr val="E6EDF3"/>
                </a:solidFill>
              </a:rPr>
              <a:t>Mycelium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8B949E"/>
                </a:solidFill>
              </a:rPr>
              <a:t>The adaptive substrate for next-generation AI agent fleets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49039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6EDF3"/>
                </a:solidFill>
              </a:rPr>
              <a:t>Minimal management.  Maximum agility.  Maximum robustness.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572000"/>
            <a:ext cx="2560320" cy="34747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608576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3FB950"/>
                </a:solidFill>
              </a:rPr>
              <a:t>263 tests · 12/12 scenarios</a:t>
            </a:r>
          </a:p>
        </p:txBody>
      </p:sp>
      <p:sp>
        <p:nvSpPr>
          <p:cNvPr id="9" name="Rectangle 8"/>
          <p:cNvSpPr/>
          <p:nvPr/>
        </p:nvSpPr>
        <p:spPr>
          <a:xfrm>
            <a:off x="3566160" y="4572000"/>
            <a:ext cx="2560320" cy="34747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4608576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8A6FF"/>
                </a:solidFill>
              </a:rPr>
              <a:t>Wire v11 · Ed25519 signed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4572000"/>
            <a:ext cx="2560320" cy="34747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608576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D2A8FF"/>
                </a:solidFill>
              </a:rPr>
              <a:t>A2A · MCP · Prompt Skills · Python · TypeScript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52560" y="4572000"/>
            <a:ext cx="2560320" cy="34747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0" y="4608576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B949E"/>
                </a:solidFill>
              </a:rPr>
              <a:t>NANDA-federable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9204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8A6FF"/>
                </a:solidFill>
              </a:rPr>
              <a:t>github.com/RichardEko/mycelium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16636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B949E"/>
                </a:solidFill>
              </a:rPr>
              <a:t>© 2026 Tathata Systems Ltd  ·  Company No. 17260812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B949E"/>
                </a:solidFill>
              </a:rPr>
              <a:t>THE NEW REALITY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1672" y="16459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B949E"/>
                </a:solidFill>
              </a:rPr>
              <a:t>02 / 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6EDF3"/>
                </a:solidFill>
              </a:rPr>
              <a:t>AI agents 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07008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58A6FF"/>
                </a:solidFill>
              </a:rPr>
              <a:t>not microservices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949E"/>
                </a:solidFill>
              </a:rPr>
              <a:t>The infrastructure playbook for microservices breaks when your units are ephemeral, capability-driven, and self-organizing.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11274552" cy="127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4592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B949E"/>
                </a:solidFill>
              </a:rPr>
              <a:t>MICROSERVICES WORLD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20240"/>
            <a:ext cx="5303520" cy="82296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920240"/>
            <a:ext cx="54864" cy="822960"/>
          </a:xfrm>
          <a:prstGeom prst="rect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011680"/>
            <a:ext cx="5138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6EDF3"/>
                </a:solidFill>
              </a:rPr>
              <a:t>Static topology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267712"/>
            <a:ext cx="513892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B949E"/>
                </a:solidFill>
              </a:rPr>
              <a:t>Services have fixed names. Discovery finds them. They don't change shape at runtime.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798064"/>
            <a:ext cx="5303520" cy="82296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798064"/>
            <a:ext cx="54864" cy="822960"/>
          </a:xfrm>
          <a:prstGeom prst="rect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2889504"/>
            <a:ext cx="5138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6EDF3"/>
                </a:solidFill>
              </a:rPr>
              <a:t>Register → serve → deregister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3145536"/>
            <a:ext cx="513892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B949E"/>
                </a:solidFill>
              </a:rPr>
              <a:t>Explicit lifecycle. Crashes leave stale entries. Registry must be told about everything.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675888"/>
            <a:ext cx="5303520" cy="82296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675888"/>
            <a:ext cx="54864" cy="822960"/>
          </a:xfrm>
          <a:prstGeom prst="rect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3767328"/>
            <a:ext cx="5138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6EDF3"/>
                </a:solidFill>
              </a:rPr>
              <a:t>Coordinator-centric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4023360"/>
            <a:ext cx="513892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B949E"/>
                </a:solidFill>
              </a:rPr>
              <a:t>One system knows the topology. It becomes the bottleneck and the failure mode.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164592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FB950"/>
                </a:solidFill>
              </a:rPr>
              <a:t>AI AGENT WORLD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1920240"/>
            <a:ext cx="5303520" cy="82296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0" y="1920240"/>
            <a:ext cx="54864" cy="82296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0528" y="2011680"/>
            <a:ext cx="5138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6EDF3"/>
                </a:solidFill>
              </a:rPr>
              <a:t>Dynamic capability sets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2267712"/>
            <a:ext cx="513892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B949E"/>
                </a:solidFill>
              </a:rPr>
              <a:t>An agent's role emerges from what it can do — and that changes as models load and tasks shift.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2798064"/>
            <a:ext cx="5303520" cy="82296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0" y="2798064"/>
            <a:ext cx="54864" cy="82296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0528" y="2889504"/>
            <a:ext cx="5138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6EDF3"/>
                </a:solidFill>
              </a:rPr>
              <a:t>Ephemeral by nature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0528" y="3145536"/>
            <a:ext cx="513892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B949E"/>
                </a:solidFill>
              </a:rPr>
              <a:t>Agents spawn, complete, and die. The fleet must heal automatically. No operator involvement.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3675888"/>
            <a:ext cx="5303520" cy="82296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0" y="3675888"/>
            <a:ext cx="54864" cy="82296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10528" y="3767328"/>
            <a:ext cx="5138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6EDF3"/>
                </a:solidFill>
              </a:rPr>
              <a:t>Peer-to-peer intelligence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10528" y="4023360"/>
            <a:ext cx="513892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B949E"/>
                </a:solidFill>
              </a:rPr>
              <a:t>Agents find each other, negotiate capability, coordinate — without a broker in the critical path.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4754880"/>
            <a:ext cx="11274552" cy="502920"/>
          </a:xfrm>
          <a:prstGeom prst="rect">
            <a:avLst/>
          </a:prstGeom>
          <a:solidFill>
            <a:srgbClr val="1C2128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7200" y="4754880"/>
            <a:ext cx="38100" cy="50292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6928" y="484632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C9D1D9"/>
                </a:solidFill>
              </a:rPr>
              <a:t>The infrastructure hasn't kept up. These tools were built for stateless HTTP services, not fleets of reasoning agents with dynamic capability surfaces.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B949E"/>
                </a:solidFill>
              </a:rPr>
              <a:t>THE STATUS QUO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1672" y="16459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B949E"/>
                </a:solidFill>
              </a:rPr>
              <a:t>03 / 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6EDF3"/>
                </a:solidFill>
              </a:rPr>
              <a:t>Four systems.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07008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58A6FF"/>
                </a:solidFill>
              </a:rPr>
              <a:t>One job.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949E"/>
                </a:solidFill>
              </a:rPr>
              <a:t>Every serious agent deployment today requires stitching these together. You write the glue. You own the glue.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11274552" cy="127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74519"/>
            <a:ext cx="2651760" cy="22860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93852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EDF3"/>
                </a:solidFill>
              </a:rPr>
              <a:t>Service Registry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194560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</a:rPr>
              <a:t>Consul · Nacos · etcd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395728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7B72"/>
                </a:solidFill>
              </a:rPr>
              <a:t>✕  Coordinator SPOF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633472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7B72"/>
                </a:solidFill>
              </a:rPr>
              <a:t>✕  register/deregister lifecycle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871216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7B72"/>
                </a:solidFill>
              </a:rPr>
              <a:t>✕  stale entries after crash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10896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7B72"/>
                </a:solidFill>
              </a:rPr>
              <a:t>✕  separate health checks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40" y="1874519"/>
            <a:ext cx="2651760" cy="22860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01568" y="193852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EDF3"/>
                </a:solidFill>
              </a:rPr>
              <a:t>Message Broker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01568" y="2194560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</a:rPr>
              <a:t>NATS · EMQX · Kafka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01568" y="2395728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7B72"/>
                </a:solidFill>
              </a:rPr>
              <a:t>✕  Broker SPOF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01568" y="2633472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7B72"/>
                </a:solidFill>
              </a:rPr>
              <a:t>✕  topics ≠ capabilities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01568" y="2871216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7B72"/>
                </a:solidFill>
              </a:rPr>
              <a:t>✕  separate discovery layer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01568" y="310896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7B72"/>
                </a:solidFill>
              </a:rPr>
              <a:t>✕  backpressure config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1874519"/>
            <a:ext cx="2651760" cy="22860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36208" y="193852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EDF3"/>
                </a:solidFill>
              </a:rPr>
              <a:t>Consensus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36208" y="2194560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</a:rPr>
              <a:t>Raft · ZooKeeper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36208" y="2395728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7B72"/>
                </a:solidFill>
              </a:rPr>
              <a:t>✕  Leader election overhead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36208" y="2633472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7B72"/>
                </a:solidFill>
              </a:rPr>
              <a:t>✕  separate from routing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36208" y="2871216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7B72"/>
                </a:solidFill>
              </a:rPr>
              <a:t>✕  no agent semantics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36208" y="310896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7B72"/>
                </a:solidFill>
              </a:rPr>
              <a:t>✕  quorum management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61120" y="1874519"/>
            <a:ext cx="2651760" cy="22860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70848" y="193852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EDF3"/>
                </a:solidFill>
              </a:rPr>
              <a:t>Protocol Adapter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70848" y="2194560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</a:rPr>
              <a:t>A2A · MCP glue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70848" y="2395728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7B72"/>
                </a:solidFill>
              </a:rPr>
              <a:t>✕  Client wrapper only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70848" y="2633472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7B72"/>
                </a:solidFill>
              </a:rPr>
              <a:t>✕  registry still required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70848" y="2871216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7B72"/>
                </a:solidFill>
              </a:rPr>
              <a:t>✕  no live capability ring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70848" y="310896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7B72"/>
                </a:solidFill>
              </a:rPr>
              <a:t>✕  manual endpoint config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4315968"/>
            <a:ext cx="11274552" cy="502920"/>
          </a:xfrm>
          <a:prstGeom prst="rect">
            <a:avLst/>
          </a:prstGeom>
          <a:solidFill>
            <a:srgbClr val="1C2128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" y="4315968"/>
            <a:ext cx="38100" cy="50292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6928" y="4407408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C9D1D9"/>
                </a:solidFill>
              </a:rPr>
              <a:t>Four failure modes. Four ops surfaces. Four things to monitor and recover. Mycelium replaces all four — no broker, no registry, no coordinator process.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B949E"/>
                </a:solidFill>
              </a:rPr>
              <a:t>THE KEY INSIGHT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1672" y="16459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B949E"/>
                </a:solidFill>
              </a:rPr>
              <a:t>04 / 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6EDF3"/>
                </a:solidFill>
              </a:rPr>
              <a:t>Availability first.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07008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58A6FF"/>
                </a:solidFill>
              </a:rPr>
              <a:t>Consistency on demand.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949E"/>
                </a:solidFill>
              </a:rPr>
              <a:t>Every coordination system before Mycelium starts with a coordinator and bolts availability on top. We inverted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11274552" cy="127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B949E"/>
                </a:solidFill>
              </a:rPr>
              <a:t>TRADITIONAL APPROACH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084831"/>
            <a:ext cx="5120640" cy="640080"/>
          </a:xfrm>
          <a:prstGeom prst="rect">
            <a:avLst/>
          </a:prstGeom>
          <a:solidFill>
            <a:srgbClr val="1A1010"/>
          </a:solidFill>
          <a:ln w="12700">
            <a:solidFill>
              <a:srgbClr val="FF7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176272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7B72"/>
                </a:solidFill>
              </a:rPr>
              <a:t>Coordinator / Raft Leader  (required for any progress)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743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</a:rPr>
              <a:t>↕  depends on  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017520"/>
            <a:ext cx="4754880" cy="548640"/>
          </a:xfrm>
          <a:prstGeom prst="rect">
            <a:avLst/>
          </a:prstGeom>
          <a:solidFill>
            <a:srgbClr val="1C2128"/>
          </a:solidFill>
          <a:ln w="9525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1089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</a:rPr>
              <a:t>Availability  (layered on top, fragile under partition)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828800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FB950"/>
                </a:solidFill>
              </a:rPr>
              <a:t>MYCELIUM — THE INVERSION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2084831"/>
            <a:ext cx="5212080" cy="640080"/>
          </a:xfrm>
          <a:prstGeom prst="rect">
            <a:avLst/>
          </a:prstGeom>
          <a:solidFill>
            <a:srgbClr val="0D1A10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2176272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FB950"/>
                </a:solidFill>
              </a:rPr>
              <a:t>Epidemic Gossip — Always Available  (no coordinator)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743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FB950"/>
                </a:solidFill>
              </a:rPr>
              <a:t>↕  sits on top of  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0" y="3017520"/>
            <a:ext cx="4754880" cy="548640"/>
          </a:xfrm>
          <a:prstGeom prst="rect">
            <a:avLst/>
          </a:prstGeom>
          <a:solidFill>
            <a:srgbClr val="100D1A"/>
          </a:solidFill>
          <a:ln w="12700">
            <a:solidFill>
              <a:srgbClr val="D2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20840" y="31089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2A8FF"/>
                </a:solidFill>
              </a:rPr>
              <a:t>Consensus Overlay — Opt-in  (pay for ordering only where needed)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315968"/>
            <a:ext cx="11274552" cy="502920"/>
          </a:xfrm>
          <a:prstGeom prst="rect">
            <a:avLst/>
          </a:prstGeom>
          <a:solidFill>
            <a:srgbClr val="1C2128"/>
          </a:solidFill>
          <a:ln w="12700">
            <a:solidFill>
              <a:srgbClr val="D2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315968"/>
            <a:ext cx="38100" cy="502920"/>
          </a:xfrm>
          <a:prstGeom prst="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4407408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C9D1D9"/>
                </a:solidFill>
              </a:rPr>
              <a:t>Gossip layer always available. Consensus is a lightweight opt-in — reach for consistent_set, distributed_lock, or elect_leader only where your application demands ordering.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D2A8FF"/>
                </a:solidFill>
              </a:rPr>
              <a:t>THEORETICAL FOUNDATIONS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1672" y="16459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B949E"/>
                </a:solidFill>
              </a:rPr>
              <a:t>05 / 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6EDF3"/>
                </a:solidFill>
              </a:rPr>
              <a:t>Not retro-fitted to theory.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07008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58A6FF"/>
                </a:solidFill>
              </a:rPr>
              <a:t>Built from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949E"/>
                </a:solidFill>
              </a:rPr>
              <a:t>Mycelium began with Holland's Complex Adaptive Systems framework as its design blueprint — then asked what that looks like running in Rust at production scale.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11274552" cy="127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37360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D2A8FF"/>
                </a:solidFill>
              </a:rPr>
              <a:t>HOLLAND — SIGNALS &amp; BOUNDARIES  (MIT Press, 2012)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65960"/>
            <a:ext cx="5394960" cy="74980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965960"/>
            <a:ext cx="54864" cy="749808"/>
          </a:xfrm>
          <a:prstGeom prst="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057400"/>
            <a:ext cx="5230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E6EDF3"/>
                </a:solidFill>
              </a:rPr>
              <a:t>Signals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313432"/>
            <a:ext cx="5230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B949E"/>
                </a:solidFill>
              </a:rPr>
              <a:t>Information that travels between agents and triggers responses. Selective — only agents that recognise the signal act on 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761488"/>
            <a:ext cx="5394960" cy="74980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761488"/>
            <a:ext cx="54864" cy="749808"/>
          </a:xfrm>
          <a:prstGeom prst="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2852928"/>
            <a:ext cx="5230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E6EDF3"/>
                </a:solidFill>
              </a:rPr>
              <a:t>Boundaries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3108960"/>
            <a:ext cx="5230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B949E"/>
                </a:solidFill>
              </a:rPr>
              <a:t>Constraints defining which agents interact — created from the inside, no external authority assigns them.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557016"/>
            <a:ext cx="5394960" cy="74980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557016"/>
            <a:ext cx="54864" cy="749808"/>
          </a:xfrm>
          <a:prstGeom prst="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3648456"/>
            <a:ext cx="5230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E6EDF3"/>
                </a:solidFill>
              </a:rPr>
              <a:t>Tags &amp; Aggregation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3904488"/>
            <a:ext cx="5230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B949E"/>
                </a:solidFill>
              </a:rPr>
              <a:t>Agents carry tags (declared properties). Matching tags cause spontaneous aggregation — emergent groups, no coordinator.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352544"/>
            <a:ext cx="5394960" cy="74980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4352544"/>
            <a:ext cx="54864" cy="749808"/>
          </a:xfrm>
          <a:prstGeom prst="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4443984"/>
            <a:ext cx="5230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E6EDF3"/>
                </a:solidFill>
              </a:rPr>
              <a:t>Emergence over prescription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4700016"/>
            <a:ext cx="5230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B949E"/>
                </a:solidFill>
              </a:rPr>
              <a:t>Macro behaviour arises from micro rules. The designer specifies interaction primitives, not outcomes.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173736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FB950"/>
                </a:solidFill>
              </a:rPr>
              <a:t>MYCELIUM — THE IMPLEMENTATION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1965960"/>
            <a:ext cx="5303520" cy="74980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0" y="1965960"/>
            <a:ext cx="54864" cy="749808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0528" y="2057400"/>
            <a:ext cx="5138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E6EDF3"/>
                </a:solidFill>
              </a:rPr>
              <a:t>Layer II — Signal Mesh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0528" y="2313432"/>
            <a:ext cx="51389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B949E"/>
                </a:solidFill>
              </a:rPr>
              <a:t>Scoped ephemeral events with admission boundaries. Only nodes matching the capability receive group-scoped signals.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2761488"/>
            <a:ext cx="5303520" cy="74980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0" y="2761488"/>
            <a:ext cx="54864" cy="749808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10528" y="2852928"/>
            <a:ext cx="5138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E6EDF3"/>
                </a:solidFill>
              </a:rPr>
              <a:t>Capability Groups &amp; Opacity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10528" y="3108960"/>
            <a:ext cx="51389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B949E"/>
                </a:solidFill>
              </a:rPr>
              <a:t>Group boundaries emerge from capability declarations. Opacity enforces admission without a gatekeeper.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3557016"/>
            <a:ext cx="5303520" cy="74980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00800" y="3557016"/>
            <a:ext cx="54864" cy="749808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10528" y="3648456"/>
            <a:ext cx="5138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E6EDF3"/>
                </a:solidFill>
              </a:rPr>
              <a:t>Capability Advertisement (Tags)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10528" y="3904488"/>
            <a:ext cx="51389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B949E"/>
                </a:solidFill>
              </a:rPr>
              <a:t>advertise_capability() is a tag. resolve() matches tags. Groups self-assemble from nodes sharing compatible sets.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4352544"/>
            <a:ext cx="5303520" cy="74980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00800" y="4352544"/>
            <a:ext cx="54864" cy="749808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10528" y="4443984"/>
            <a:ext cx="5138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E6EDF3"/>
                </a:solidFill>
              </a:rPr>
              <a:t>No coordinator, by design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10528" y="4700016"/>
            <a:ext cx="51389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B949E"/>
                </a:solidFill>
              </a:rPr>
              <a:t>Cluster topology is never prescribed. It emerges from gossip, TTL expiry, and capability matching — as CAS predicts.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5212080"/>
            <a:ext cx="11274552" cy="566928"/>
          </a:xfrm>
          <a:prstGeom prst="rect">
            <a:avLst/>
          </a:prstGeom>
          <a:solidFill>
            <a:srgbClr val="1C2128"/>
          </a:solidFill>
          <a:ln w="12700">
            <a:solidFill>
              <a:srgbClr val="D2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" y="5212080"/>
            <a:ext cx="38100" cy="566928"/>
          </a:xfrm>
          <a:prstGeom prst="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66928" y="5303520"/>
            <a:ext cx="1109167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C9D1D9"/>
                </a:solidFill>
              </a:rPr>
              <a:t>Also standing on:  Grassé (1959) Stigmergy — agents coordinate through environment modification (the KV layer is the environment)  ·  Demers et al. (1987) Epidemic Algorithms — the gossip substrate  ·  Kulkarni et al. (2014) Hybrid Logical Clocks — causal ordering without NTP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B949E"/>
                </a:solidFill>
              </a:rPr>
              <a:t>WHAT YOU 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1672" y="16459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B949E"/>
                </a:solidFill>
              </a:rPr>
              <a:t>06 / 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6EDF3"/>
                </a:solidFill>
              </a:rPr>
              <a:t>Six superpowers.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07008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58A6FF"/>
                </a:solidFill>
              </a:rPr>
              <a:t>One library.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11274552" cy="127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3657600" cy="14173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54864" cy="141732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554480"/>
            <a:ext cx="34930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6EDF3"/>
                </a:solidFill>
              </a:rPr>
              <a:t>Self-Organizing Discovery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810512"/>
            <a:ext cx="3493008" cy="101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B949E"/>
                </a:solidFill>
              </a:rPr>
              <a:t>Advertise capabilities — groups emerge automatically. Dead nodes vanish via TTL. No deregister call. No stale entries. No operator involvement.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15968" y="1463040"/>
            <a:ext cx="3657600" cy="14173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15968" y="1463040"/>
            <a:ext cx="54864" cy="141732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25696" y="1554480"/>
            <a:ext cx="34930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6EDF3"/>
                </a:solidFill>
              </a:rPr>
              <a:t>Zero-Latency 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25696" y="1810512"/>
            <a:ext cx="3493008" cy="101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B949E"/>
                </a:solidFill>
              </a:rPr>
              <a:t>Every node holds a complete, eventually-consistent view of the fleet. Reads are local. No round-trip to a registry. No cache to invalidate.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74736" y="1463040"/>
            <a:ext cx="3657600" cy="14173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74736" y="1463040"/>
            <a:ext cx="54864" cy="1417320"/>
          </a:xfrm>
          <a:prstGeom prst="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4464" y="1554480"/>
            <a:ext cx="34930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6EDF3"/>
                </a:solidFill>
              </a:rPr>
              <a:t>Consensus Without Coordinators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4" y="1810512"/>
            <a:ext cx="3493008" cy="101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B949E"/>
                </a:solidFill>
              </a:rPr>
              <a:t>Distributed locks, leader election, ballot-serialized writes via epidemic consensus. No Raft leader, no ZooKeeper, no quorum node you can't lose.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044952"/>
            <a:ext cx="3657600" cy="14173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044952"/>
            <a:ext cx="54864" cy="1417320"/>
          </a:xfrm>
          <a:prstGeom prst="rect">
            <a:avLst/>
          </a:prstGeom>
          <a:solidFill>
            <a:srgbClr val="FFA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3136392"/>
            <a:ext cx="34930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6EDF3"/>
                </a:solidFill>
              </a:rPr>
              <a:t>Fluid Workload Allocation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3392424"/>
            <a:ext cx="3493008" cy="101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B949E"/>
                </a:solidFill>
              </a:rPr>
              <a:t>Agentic Flow Networks let workers shift between pipeline stages as demand shifts. The cluster is the queue. The capability ring is the scheduler.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15968" y="3044952"/>
            <a:ext cx="3657600" cy="14173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15968" y="3044952"/>
            <a:ext cx="54864" cy="1417320"/>
          </a:xfrm>
          <a:prstGeom prst="rect">
            <a:avLst/>
          </a:prstGeom>
          <a:solidFill>
            <a:srgbClr val="FF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25696" y="3136392"/>
            <a:ext cx="34930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6EDF3"/>
                </a:solidFill>
              </a:rPr>
              <a:t>Protocol-Native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25696" y="3392424"/>
            <a:ext cx="3493008" cy="101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B949E"/>
                </a:solidFill>
              </a:rPr>
              <a:t>A2A and MCP surfaces built-in. LangChain and AutoGen auto-discover skills from the live capability ring. No adapter code, no manual registration.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74736" y="3044952"/>
            <a:ext cx="3657600" cy="14173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74736" y="3044952"/>
            <a:ext cx="54864" cy="1417320"/>
          </a:xfrm>
          <a:prstGeom prst="rect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84464" y="3136392"/>
            <a:ext cx="34930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6EDF3"/>
                </a:solidFill>
              </a:rPr>
              <a:t>Zero Ops Burden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84464" y="3392424"/>
            <a:ext cx="3493008" cy="101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B949E"/>
                </a:solidFill>
              </a:rPr>
              <a:t>No broker process. No registry process. No coordinator. Embed the library, call agent.start(), and you're in the mesh. Air-gap and edge included.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B949E"/>
                </a:solidFill>
              </a:rPr>
              <a:t>SELF-ORGANIZATION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1672" y="16459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B949E"/>
                </a:solidFill>
              </a:rPr>
              <a:t>07 / 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6EDF3"/>
                </a:solidFill>
              </a:rPr>
              <a:t>The fleet knows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07008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58A6FF"/>
                </a:solidFill>
              </a:rPr>
              <a:t>what it can 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949E"/>
                </a:solidFill>
              </a:rPr>
              <a:t>Capabilities gossip through the cluster. Groups form automatically. Dead nodes expire. No administrator required.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11274552" cy="127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0080" y="1645920"/>
            <a:ext cx="2194560" cy="1737360"/>
          </a:xfrm>
          <a:prstGeom prst="ellipse">
            <a:avLst/>
          </a:prstGeom>
          <a:solidFill>
            <a:srgbClr val="1A1205"/>
          </a:solidFill>
          <a:ln w="12700">
            <a:solidFill>
              <a:srgbClr val="FFA65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66420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A657"/>
                </a:solidFill>
              </a:rPr>
              <a:t>GPU WORKERS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1920240"/>
            <a:ext cx="731520" cy="731520"/>
          </a:xfrm>
          <a:prstGeom prst="ellipse">
            <a:avLst/>
          </a:prstGeom>
          <a:solidFill>
            <a:srgbClr val="1A1205"/>
          </a:solidFill>
          <a:ln w="19050">
            <a:solidFill>
              <a:srgbClr val="FFA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A657"/>
                </a:solidFill>
              </a:rPr>
              <a:t>GPU</a:t>
            </a:r>
          </a:p>
          <a:p>
            <a:pPr algn="ctr"/>
            <a:r>
              <a:rPr sz="800">
                <a:solidFill>
                  <a:srgbClr val="FFA657"/>
                </a:solidFill>
              </a:rPr>
              <a:t>A100</a:t>
            </a:r>
          </a:p>
        </p:txBody>
      </p:sp>
      <p:sp>
        <p:nvSpPr>
          <p:cNvPr id="11" name="Oval 10"/>
          <p:cNvSpPr/>
          <p:nvPr/>
        </p:nvSpPr>
        <p:spPr>
          <a:xfrm>
            <a:off x="1463040" y="1645920"/>
            <a:ext cx="731520" cy="731520"/>
          </a:xfrm>
          <a:prstGeom prst="ellipse">
            <a:avLst/>
          </a:prstGeom>
          <a:solidFill>
            <a:srgbClr val="1A1205"/>
          </a:solidFill>
          <a:ln w="19050">
            <a:solidFill>
              <a:srgbClr val="FFA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A657"/>
                </a:solidFill>
              </a:rPr>
              <a:t>GPU</a:t>
            </a:r>
          </a:p>
          <a:p>
            <a:pPr algn="ctr"/>
            <a:r>
              <a:rPr sz="800">
                <a:solidFill>
                  <a:srgbClr val="FFA657"/>
                </a:solidFill>
              </a:rPr>
              <a:t>A100</a:t>
            </a:r>
          </a:p>
        </p:txBody>
      </p:sp>
      <p:sp>
        <p:nvSpPr>
          <p:cNvPr id="12" name="Oval 11"/>
          <p:cNvSpPr/>
          <p:nvPr/>
        </p:nvSpPr>
        <p:spPr>
          <a:xfrm>
            <a:off x="2103120" y="2011680"/>
            <a:ext cx="731520" cy="731520"/>
          </a:xfrm>
          <a:prstGeom prst="ellipse">
            <a:avLst/>
          </a:prstGeom>
          <a:solidFill>
            <a:srgbClr val="1A1205"/>
          </a:solidFill>
          <a:ln w="19050">
            <a:solidFill>
              <a:srgbClr val="FFA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A657"/>
                </a:solidFill>
              </a:rPr>
              <a:t>GPU</a:t>
            </a:r>
          </a:p>
          <a:p>
            <a:pPr algn="ctr"/>
            <a:r>
              <a:rPr sz="800">
                <a:solidFill>
                  <a:srgbClr val="FFA657"/>
                </a:solidFill>
              </a:rPr>
              <a:t>H100</a:t>
            </a:r>
          </a:p>
        </p:txBody>
      </p:sp>
      <p:sp>
        <p:nvSpPr>
          <p:cNvPr id="13" name="Oval 12"/>
          <p:cNvSpPr/>
          <p:nvPr/>
        </p:nvSpPr>
        <p:spPr>
          <a:xfrm>
            <a:off x="3931920" y="1645920"/>
            <a:ext cx="2194560" cy="1737360"/>
          </a:xfrm>
          <a:prstGeom prst="ellipse">
            <a:avLst/>
          </a:prstGeom>
          <a:solidFill>
            <a:srgbClr val="140D1A"/>
          </a:solidFill>
          <a:ln w="12700">
            <a:solidFill>
              <a:srgbClr val="D2A8F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60520" y="166420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D2A8FF"/>
                </a:solidFill>
              </a:rPr>
              <a:t>LLM NODES</a:t>
            </a:r>
          </a:p>
        </p:txBody>
      </p:sp>
      <p:sp>
        <p:nvSpPr>
          <p:cNvPr id="15" name="Oval 14"/>
          <p:cNvSpPr/>
          <p:nvPr/>
        </p:nvSpPr>
        <p:spPr>
          <a:xfrm>
            <a:off x="3931920" y="1920240"/>
            <a:ext cx="731520" cy="731520"/>
          </a:xfrm>
          <a:prstGeom prst="ellipse">
            <a:avLst/>
          </a:prstGeom>
          <a:solidFill>
            <a:srgbClr val="140D1A"/>
          </a:solidFill>
          <a:ln w="19050">
            <a:solidFill>
              <a:srgbClr val="D2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D2A8FF"/>
                </a:solidFill>
              </a:rPr>
              <a:t>LLM</a:t>
            </a:r>
          </a:p>
          <a:p>
            <a:pPr algn="ctr"/>
            <a:r>
              <a:rPr sz="800">
                <a:solidFill>
                  <a:srgbClr val="D2A8FF"/>
                </a:solidFill>
              </a:rPr>
              <a:t>gpt4o</a:t>
            </a:r>
          </a:p>
        </p:txBody>
      </p:sp>
      <p:sp>
        <p:nvSpPr>
          <p:cNvPr id="16" name="Oval 15"/>
          <p:cNvSpPr/>
          <p:nvPr/>
        </p:nvSpPr>
        <p:spPr>
          <a:xfrm>
            <a:off x="4663440" y="1645920"/>
            <a:ext cx="731520" cy="731520"/>
          </a:xfrm>
          <a:prstGeom prst="ellipse">
            <a:avLst/>
          </a:prstGeom>
          <a:solidFill>
            <a:srgbClr val="140D1A"/>
          </a:solidFill>
          <a:ln w="19050">
            <a:solidFill>
              <a:srgbClr val="D2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D2A8FF"/>
                </a:solidFill>
              </a:rPr>
              <a:t>LLM</a:t>
            </a:r>
          </a:p>
          <a:p>
            <a:pPr algn="ctr"/>
            <a:r>
              <a:rPr sz="800">
                <a:solidFill>
                  <a:srgbClr val="D2A8FF"/>
                </a:solidFill>
              </a:rPr>
              <a:t>llama3</a:t>
            </a:r>
          </a:p>
        </p:txBody>
      </p:sp>
      <p:sp>
        <p:nvSpPr>
          <p:cNvPr id="17" name="Oval 16"/>
          <p:cNvSpPr/>
          <p:nvPr/>
        </p:nvSpPr>
        <p:spPr>
          <a:xfrm>
            <a:off x="5212080" y="2011680"/>
            <a:ext cx="731520" cy="731520"/>
          </a:xfrm>
          <a:prstGeom prst="ellipse">
            <a:avLst/>
          </a:prstGeom>
          <a:solidFill>
            <a:srgbClr val="140D1A"/>
          </a:solidFill>
          <a:ln w="19050">
            <a:solidFill>
              <a:srgbClr val="D2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D2A8FF"/>
                </a:solidFill>
              </a:rPr>
              <a:t>LLM</a:t>
            </a:r>
          </a:p>
          <a:p>
            <a:pPr algn="ctr"/>
            <a:r>
              <a:rPr sz="800">
                <a:solidFill>
                  <a:srgbClr val="D2A8FF"/>
                </a:solidFill>
              </a:rPr>
              <a:t>mistral</a:t>
            </a:r>
          </a:p>
        </p:txBody>
      </p:sp>
      <p:sp>
        <p:nvSpPr>
          <p:cNvPr id="18" name="Oval 17"/>
          <p:cNvSpPr/>
          <p:nvPr/>
        </p:nvSpPr>
        <p:spPr>
          <a:xfrm>
            <a:off x="1645920" y="3657600"/>
            <a:ext cx="2194560" cy="1554480"/>
          </a:xfrm>
          <a:prstGeom prst="ellipse">
            <a:avLst/>
          </a:prstGeom>
          <a:solidFill>
            <a:srgbClr val="0A150D"/>
          </a:solidFill>
          <a:ln w="12700">
            <a:solidFill>
              <a:srgbClr val="3FB95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920240" y="3675887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3FB950"/>
                </a:solidFill>
              </a:rPr>
              <a:t>STORAGE</a:t>
            </a:r>
          </a:p>
        </p:txBody>
      </p:sp>
      <p:sp>
        <p:nvSpPr>
          <p:cNvPr id="20" name="Oval 19"/>
          <p:cNvSpPr/>
          <p:nvPr/>
        </p:nvSpPr>
        <p:spPr>
          <a:xfrm>
            <a:off x="1645920" y="3977640"/>
            <a:ext cx="731520" cy="731520"/>
          </a:xfrm>
          <a:prstGeom prst="ellipse">
            <a:avLst/>
          </a:prstGeom>
          <a:solidFill>
            <a:srgbClr val="0A150D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3FB950"/>
                </a:solidFill>
              </a:rPr>
              <a:t>STORE</a:t>
            </a:r>
          </a:p>
          <a:p>
            <a:pPr algn="ctr"/>
            <a:r>
              <a:rPr sz="800">
                <a:solidFill>
                  <a:srgbClr val="3FB950"/>
                </a:solidFill>
              </a:rPr>
              <a:t>fast</a:t>
            </a:r>
          </a:p>
        </p:txBody>
      </p:sp>
      <p:sp>
        <p:nvSpPr>
          <p:cNvPr id="21" name="Oval 20"/>
          <p:cNvSpPr/>
          <p:nvPr/>
        </p:nvSpPr>
        <p:spPr>
          <a:xfrm>
            <a:off x="2377440" y="3749040"/>
            <a:ext cx="731520" cy="731520"/>
          </a:xfrm>
          <a:prstGeom prst="ellipse">
            <a:avLst/>
          </a:prstGeom>
          <a:solidFill>
            <a:srgbClr val="0A150D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3FB950"/>
                </a:solidFill>
              </a:rPr>
              <a:t>STORE</a:t>
            </a:r>
          </a:p>
          <a:p>
            <a:pPr algn="ctr"/>
            <a:r>
              <a:rPr sz="800">
                <a:solidFill>
                  <a:srgbClr val="3FB950"/>
                </a:solidFill>
              </a:rPr>
              <a:t>nvme</a:t>
            </a:r>
          </a:p>
        </p:txBody>
      </p:sp>
      <p:sp>
        <p:nvSpPr>
          <p:cNvPr id="22" name="Oval 21"/>
          <p:cNvSpPr/>
          <p:nvPr/>
        </p:nvSpPr>
        <p:spPr>
          <a:xfrm>
            <a:off x="3017520" y="4023360"/>
            <a:ext cx="731520" cy="731520"/>
          </a:xfrm>
          <a:prstGeom prst="ellipse">
            <a:avLst/>
          </a:prstGeom>
          <a:solidFill>
            <a:srgbClr val="0A150D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3FB950"/>
                </a:solidFill>
              </a:rPr>
              <a:t>STORE</a:t>
            </a:r>
          </a:p>
          <a:p>
            <a:pPr algn="ctr"/>
            <a:r>
              <a:rPr sz="800">
                <a:solidFill>
                  <a:srgbClr val="3FB950"/>
                </a:solidFill>
              </a:rPr>
              <a:t>arch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34640" y="2834640"/>
            <a:ext cx="1645920" cy="347472"/>
          </a:xfrm>
          <a:prstGeom prst="rect">
            <a:avLst/>
          </a:prstGeom>
          <a:solidFill>
            <a:srgbClr val="0D1117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80360" y="2898648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8B949E"/>
                </a:solidFill>
              </a:rPr>
              <a:t>NO COORDINATOR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0" y="1645920"/>
            <a:ext cx="5120640" cy="9601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83680" y="1645920"/>
            <a:ext cx="54864" cy="96012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93408" y="1737360"/>
            <a:ext cx="4956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6EDF3"/>
                </a:solidFill>
              </a:rPr>
              <a:t>Capabilities advertised, not registered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93408" y="1993392"/>
            <a:ext cx="4956048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B949E"/>
                </a:solidFill>
              </a:rPr>
              <a:t>Each node writes TTL'd KV entries that gossip through the cluster. Groups emerge from shared capabilities. No administrator defines them.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0" y="2670048"/>
            <a:ext cx="5120640" cy="9601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583680" y="2670048"/>
            <a:ext cx="54864" cy="960120"/>
          </a:xfrm>
          <a:prstGeom prst="rect">
            <a:avLst/>
          </a:prstGeom>
          <a:solidFill>
            <a:srgbClr val="FFA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93408" y="2761488"/>
            <a:ext cx="4956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6EDF3"/>
                </a:solidFill>
              </a:rPr>
              <a:t>Dead nodes vanish automatically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93408" y="3017520"/>
            <a:ext cx="4956048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B949E"/>
                </a:solidFill>
              </a:rPr>
              <a:t>When a node stops refreshing its TTL entries, they expire. The cluster heals within one health interval. No deregister call required.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0" y="3694176"/>
            <a:ext cx="5120640" cy="9601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0" y="3694176"/>
            <a:ext cx="54864" cy="960120"/>
          </a:xfrm>
          <a:prstGeom prst="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93408" y="3785616"/>
            <a:ext cx="4956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6EDF3"/>
                </a:solidFill>
              </a:rPr>
              <a:t>Late joiners catch up fully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93408" y="4041648"/>
            <a:ext cx="4956048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B949E"/>
                </a:solidFill>
              </a:rPr>
              <a:t>Anti-entropy sync on reconnect means a restarted node recovers full cluster state from peers within seconds.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B949E"/>
                </a:solidFill>
              </a:rPr>
              <a:t>AGENTIC FLOW NETWORKS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1672" y="16459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B949E"/>
                </a:solidFill>
              </a:rPr>
              <a:t>08 / 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6EDF3"/>
                </a:solidFill>
              </a:rPr>
              <a:t>The cluster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07008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58A6FF"/>
                </a:solidFill>
              </a:rPr>
              <a:t>is the queue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949E"/>
                </a:solidFill>
              </a:rPr>
              <a:t>Conventional pipelines pin workers to static stages. AFN workers shift to wherever demand exists.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11274552" cy="127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874520"/>
            <a:ext cx="11612880" cy="2194560"/>
          </a:xfrm>
          <a:prstGeom prst="rect">
            <a:avLst/>
          </a:prstGeom>
          <a:solidFill>
            <a:srgbClr val="0D1420"/>
          </a:solidFill>
          <a:ln w="6350">
            <a:solidFill>
              <a:srgbClr val="2030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35661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205080"/>
                </a:solidFill>
              </a:rPr>
              <a:t>KV RING — GOSSIP BUFFER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68880" y="2385060"/>
            <a:ext cx="320040" cy="762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920240"/>
            <a:ext cx="2011680" cy="1005840"/>
          </a:xfrm>
          <a:prstGeom prst="rect">
            <a:avLst/>
          </a:prstGeom>
          <a:solidFill>
            <a:srgbClr val="1C2128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0116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FB950"/>
                </a:solidFill>
              </a:rPr>
              <a:t>FETCH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3317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</a:rPr>
              <a:t>workers: 2</a:t>
            </a:r>
          </a:p>
        </p:txBody>
      </p:sp>
      <p:sp>
        <p:nvSpPr>
          <p:cNvPr id="14" name="Oval 13"/>
          <p:cNvSpPr/>
          <p:nvPr/>
        </p:nvSpPr>
        <p:spPr>
          <a:xfrm>
            <a:off x="1197864" y="2633472"/>
            <a:ext cx="201168" cy="201168"/>
          </a:xfrm>
          <a:prstGeom prst="ellipse">
            <a:avLst/>
          </a:prstGeom>
          <a:solidFill>
            <a:srgbClr val="3FB950"/>
          </a:solidFill>
          <a:ln w="63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99616" y="2633472"/>
            <a:ext cx="201168" cy="201168"/>
          </a:xfrm>
          <a:prstGeom prst="ellipse">
            <a:avLst/>
          </a:prstGeom>
          <a:solidFill>
            <a:srgbClr val="3FB950"/>
          </a:solidFill>
          <a:ln w="63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828032" y="2385060"/>
            <a:ext cx="320040" cy="762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16352" y="1920240"/>
            <a:ext cx="2011680" cy="1005840"/>
          </a:xfrm>
          <a:prstGeom prst="rect">
            <a:avLst/>
          </a:prstGeom>
          <a:solidFill>
            <a:srgbClr val="1C2128"/>
          </a:solidFill>
          <a:ln w="19050">
            <a:solidFill>
              <a:srgbClr val="FFA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07792" y="20116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A657"/>
                </a:solidFill>
              </a:rPr>
              <a:t>PARSE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07792" y="23317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</a:rPr>
              <a:t>workers: 4</a:t>
            </a:r>
          </a:p>
        </p:txBody>
      </p:sp>
      <p:sp>
        <p:nvSpPr>
          <p:cNvPr id="20" name="Oval 19"/>
          <p:cNvSpPr/>
          <p:nvPr/>
        </p:nvSpPr>
        <p:spPr>
          <a:xfrm>
            <a:off x="3255264" y="2633472"/>
            <a:ext cx="201168" cy="201168"/>
          </a:xfrm>
          <a:prstGeom prst="ellipse">
            <a:avLst/>
          </a:prstGeom>
          <a:solidFill>
            <a:srgbClr val="FFA657"/>
          </a:solidFill>
          <a:ln w="6350">
            <a:solidFill>
              <a:srgbClr val="FFA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557016" y="2633472"/>
            <a:ext cx="201168" cy="201168"/>
          </a:xfrm>
          <a:prstGeom prst="ellipse">
            <a:avLst/>
          </a:prstGeom>
          <a:solidFill>
            <a:srgbClr val="FFA657"/>
          </a:solidFill>
          <a:ln w="6350">
            <a:solidFill>
              <a:srgbClr val="FFA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858768" y="2633472"/>
            <a:ext cx="201168" cy="201168"/>
          </a:xfrm>
          <a:prstGeom prst="ellipse">
            <a:avLst/>
          </a:prstGeom>
          <a:solidFill>
            <a:srgbClr val="FFA657"/>
          </a:solidFill>
          <a:ln w="6350">
            <a:solidFill>
              <a:srgbClr val="FFA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160520" y="2633472"/>
            <a:ext cx="201168" cy="201168"/>
          </a:xfrm>
          <a:prstGeom prst="ellipse">
            <a:avLst/>
          </a:prstGeom>
          <a:solidFill>
            <a:srgbClr val="FFA657"/>
          </a:solidFill>
          <a:ln w="6350">
            <a:solidFill>
              <a:srgbClr val="FFA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187184" y="2385060"/>
            <a:ext cx="320040" cy="762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75504" y="1920240"/>
            <a:ext cx="2011680" cy="1005840"/>
          </a:xfrm>
          <a:prstGeom prst="rect">
            <a:avLst/>
          </a:prstGeom>
          <a:solidFill>
            <a:srgbClr val="1C2128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66944" y="20116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8A6FF"/>
                </a:solidFill>
              </a:rPr>
              <a:t>ENRICH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66944" y="23317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</a:rPr>
              <a:t>workers: 2</a:t>
            </a:r>
          </a:p>
        </p:txBody>
      </p:sp>
      <p:sp>
        <p:nvSpPr>
          <p:cNvPr id="28" name="Oval 27"/>
          <p:cNvSpPr/>
          <p:nvPr/>
        </p:nvSpPr>
        <p:spPr>
          <a:xfrm>
            <a:off x="5916168" y="2633472"/>
            <a:ext cx="201168" cy="201168"/>
          </a:xfrm>
          <a:prstGeom prst="ellipse">
            <a:avLst/>
          </a:prstGeom>
          <a:solidFill>
            <a:srgbClr val="58A6FF"/>
          </a:solidFill>
          <a:ln w="63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217920" y="2633472"/>
            <a:ext cx="201168" cy="201168"/>
          </a:xfrm>
          <a:prstGeom prst="ellipse">
            <a:avLst/>
          </a:prstGeom>
          <a:solidFill>
            <a:srgbClr val="58A6FF"/>
          </a:solidFill>
          <a:ln w="63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534656" y="1920240"/>
            <a:ext cx="2011680" cy="1005840"/>
          </a:xfrm>
          <a:prstGeom prst="rect">
            <a:avLst/>
          </a:prstGeom>
          <a:solidFill>
            <a:srgbClr val="1C2128"/>
          </a:solidFill>
          <a:ln w="19050">
            <a:solidFill>
              <a:srgbClr val="D2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26096" y="20116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D2A8FF"/>
                </a:solidFill>
              </a:rPr>
              <a:t>INDEX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26096" y="23317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</a:rPr>
              <a:t>workers: 2</a:t>
            </a:r>
          </a:p>
        </p:txBody>
      </p:sp>
      <p:sp>
        <p:nvSpPr>
          <p:cNvPr id="33" name="Oval 32"/>
          <p:cNvSpPr/>
          <p:nvPr/>
        </p:nvSpPr>
        <p:spPr>
          <a:xfrm>
            <a:off x="8275320" y="2633472"/>
            <a:ext cx="201168" cy="201168"/>
          </a:xfrm>
          <a:prstGeom prst="ellipse">
            <a:avLst/>
          </a:prstGeom>
          <a:solidFill>
            <a:srgbClr val="D2A8FF"/>
          </a:solidFill>
          <a:ln w="6350">
            <a:solidFill>
              <a:srgbClr val="D2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577072" y="2633472"/>
            <a:ext cx="201168" cy="201168"/>
          </a:xfrm>
          <a:prstGeom prst="ellipse">
            <a:avLst/>
          </a:prstGeom>
          <a:solidFill>
            <a:srgbClr val="D2A8FF"/>
          </a:solidFill>
          <a:ln w="6350">
            <a:solidFill>
              <a:srgbClr val="D2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37160" y="2148840"/>
            <a:ext cx="274320" cy="548640"/>
          </a:xfrm>
          <a:prstGeom prst="rect">
            <a:avLst/>
          </a:prstGeom>
          <a:solidFill>
            <a:srgbClr val="161B22"/>
          </a:solidFill>
          <a:ln w="635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37160" y="23774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8B949E"/>
                </a:solidFill>
              </a:rPr>
              <a:t>IN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848088" y="2148840"/>
            <a:ext cx="274320" cy="548640"/>
          </a:xfrm>
          <a:prstGeom prst="rect">
            <a:avLst/>
          </a:prstGeom>
          <a:solidFill>
            <a:srgbClr val="161B22"/>
          </a:solidFill>
          <a:ln w="635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848088" y="23774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8B949E"/>
                </a:solidFill>
              </a:rPr>
              <a:t>OUT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3703320"/>
            <a:ext cx="2743200" cy="10058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57200" y="3703320"/>
            <a:ext cx="54864" cy="1005840"/>
          </a:xfrm>
          <a:prstGeom prst="rect">
            <a:avLst/>
          </a:prstGeom>
          <a:solidFill>
            <a:srgbClr val="FFA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6928" y="3794760"/>
            <a:ext cx="2578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E6EDF3"/>
                </a:solidFill>
              </a:rPr>
              <a:t>Opacity Backpressure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4050792"/>
            <a:ext cx="2578608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8B949E"/>
                </a:solidFill>
              </a:rPr>
              <a:t>Busy workers mark themselves opaque. The capability resolver skips them. Overloaded stages draw in idle workers automatically.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355848" y="3703320"/>
            <a:ext cx="2743200" cy="10058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355848" y="3703320"/>
            <a:ext cx="54864" cy="10058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465576" y="3794760"/>
            <a:ext cx="2578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E6EDF3"/>
                </a:solidFill>
              </a:rPr>
              <a:t>KV Ring IS the Buffer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465576" y="4050792"/>
            <a:ext cx="2578608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8B949E"/>
                </a:solidFill>
              </a:rPr>
              <a:t>Stage items are KV entries. Any worker matching the capability picks them up. No queue server, no topic config, no dead-letter queue.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54496" y="3703320"/>
            <a:ext cx="2743200" cy="10058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254496" y="3703320"/>
            <a:ext cx="54864" cy="100584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64224" y="3794760"/>
            <a:ext cx="2578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E6EDF3"/>
                </a:solidFill>
              </a:rPr>
              <a:t>Beyond the Demo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64224" y="4050792"/>
            <a:ext cx="2578608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8B949E"/>
                </a:solidFill>
              </a:rPr>
              <a:t>Demo uses identical workers carrying all stage logic — vivid, but undersells the model. Production: specialist workers, heterogeneous teams, zero-downtime score_v2 rollout alongside score_v1. Topology emerges from whatever is running.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153144" y="3703320"/>
            <a:ext cx="2743200" cy="10058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153144" y="3703320"/>
            <a:ext cx="54864" cy="1005840"/>
          </a:xfrm>
          <a:prstGeom prst="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262872" y="3794760"/>
            <a:ext cx="2578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E6EDF3"/>
                </a:solidFill>
              </a:rPr>
              <a:t>Demo ≠ Requirement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62872" y="4050792"/>
            <a:ext cx="2578608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8B949E"/>
                </a:solidFill>
              </a:rPr>
              <a:t>Fluid allocation works across a fully heterogeneous fleet. Different images, different teams, different capability sets. The mesh assembles the topology bottom-up — no operator involvement.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B949E"/>
                </a:solidFill>
              </a:rPr>
              <a:t>THE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1672" y="16459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B949E"/>
                </a:solidFill>
              </a:rPr>
              <a:t>09 / 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6EDF3"/>
                </a:solidFill>
              </a:rPr>
              <a:t>Two layers.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07008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58A6FF"/>
                </a:solidFill>
              </a:rPr>
              <a:t>Nothing else.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11274552" cy="127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4114800" cy="1234440"/>
          </a:xfrm>
          <a:prstGeom prst="rect">
            <a:avLst/>
          </a:prstGeom>
          <a:solidFill>
            <a:srgbClr val="140D1A"/>
          </a:solidFill>
          <a:ln w="19050">
            <a:solidFill>
              <a:srgbClr val="D2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3840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D2A8FF"/>
                </a:solidFill>
              </a:rPr>
              <a:t>INTERNET / CROSS-ORG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19072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D2A8FF"/>
                </a:solidFill>
              </a:rPr>
              <a:t>NANDA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AgentAddr · W3C VC · Cross-org Federation · Sub-second revocation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724912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B949E"/>
                </a:solidFill>
              </a:rPr>
              <a:t>↕  one AgentAddr record  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980944"/>
            <a:ext cx="4114800" cy="1417320"/>
          </a:xfrm>
          <a:prstGeom prst="rect">
            <a:avLst/>
          </a:prstGeom>
          <a:solidFill>
            <a:srgbClr val="0A150D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072384"/>
            <a:ext cx="3840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3FB950"/>
                </a:solidFill>
              </a:rPr>
              <a:t>YOUR CLUSTER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236976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3FB950"/>
                </a:solidFill>
              </a:rPr>
              <a:t>Mycelium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639312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KV · Signals · Consensus · Capabilities · A2A · MCP · Sharding
Prompt Skills · Ed25519 · mTLS · Prometheus metrics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42569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B949E"/>
                </a:solidFill>
              </a:rPr>
              <a:t>↕  cargo add mycelium  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681728"/>
            <a:ext cx="4114800" cy="804672"/>
          </a:xfrm>
          <a:prstGeom prst="rect">
            <a:avLst/>
          </a:prstGeom>
          <a:solidFill>
            <a:srgbClr val="0D141A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773168"/>
            <a:ext cx="3840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58A6FF"/>
                </a:solidFill>
              </a:rPr>
              <a:t>YOUR AGENTS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93776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58A6FF"/>
                </a:solidFill>
              </a:rPr>
              <a:t>Agents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340096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Rust · Python · TypeScript · Any language via HTTP gateway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0" y="1463040"/>
            <a:ext cx="6675120" cy="13716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0" y="1463040"/>
            <a:ext cx="54864" cy="13716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38928" y="1554480"/>
            <a:ext cx="65105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6EDF3"/>
                </a:solidFill>
              </a:rPr>
              <a:t>Intra-cluster — Mycelium handles everything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38928" y="1810512"/>
            <a:ext cx="6510528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B949E"/>
                </a:solidFill>
              </a:rPr>
              <a:t>Node discovery · State propagation · Event routing · Consensus
Leader election · Distributed locks · A2A task surface
MCP tool registry · Sharding · Prompt Skills · Metrics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0" y="2926080"/>
            <a:ext cx="6675120" cy="13716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0" y="2926080"/>
            <a:ext cx="54864" cy="1371600"/>
          </a:xfrm>
          <a:prstGeom prst="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38928" y="3017520"/>
            <a:ext cx="65105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6EDF3"/>
                </a:solidFill>
              </a:rPr>
              <a:t>Internet scale — NANDA federation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38928" y="3273552"/>
            <a:ext cx="6510528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B949E"/>
                </a:solidFill>
              </a:rPr>
              <a:t>One AgentAddr record points to your cluster's /.well-known/agent.json.
Your cluster joins the agent internet. W3C VC-signed AgentFacts.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4389120"/>
            <a:ext cx="6675120" cy="13716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0" y="4389120"/>
            <a:ext cx="54864" cy="13716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38928" y="4480560"/>
            <a:ext cx="65105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6EDF3"/>
                </a:solidFill>
              </a:rPr>
              <a:t>No code changes required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38928" y="4736592"/>
            <a:ext cx="6510528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B949E"/>
                </a:solidFill>
              </a:rPr>
              <a:t>Mycelium's A2A surface is already a conforming endpoint.
NANDA federation is a DNS record, not a code change.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B949E"/>
                </a:solidFill>
              </a:rPr>
              <a:t>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1672" y="16459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B949E"/>
                </a:solidFill>
              </a:rPr>
              <a:t>10 / 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6EDF3"/>
                </a:solidFill>
              </a:rPr>
              <a:t>Mycelium vs.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07008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58A6FF"/>
                </a:solidFill>
              </a:rPr>
              <a:t>the field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11274552" cy="127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417320"/>
          <a:ext cx="969264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828800"/>
                <a:gridCol w="1463040"/>
                <a:gridCol w="1463040"/>
                <a:gridCol w="1463040"/>
                <a:gridCol w="1463040"/>
              </a:tblGrid>
              <a:tr h="538480"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</a:pPr>
                      <a:r>
                        <a:rPr sz="900" b="1">
                          <a:solidFill>
                            <a:srgbClr val="8B949E"/>
                          </a:solidFill>
                        </a:rPr>
                        <a:t>Capability</a:t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</a:pPr>
                      <a:r>
                        <a:rPr sz="900" b="1">
                          <a:solidFill>
                            <a:srgbClr val="3FB950"/>
                          </a:solidFill>
                        </a:rPr>
                        <a:t>Mycelium</a:t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</a:pPr>
                      <a:r>
                        <a:rPr sz="900" b="1">
                          <a:solidFill>
                            <a:srgbClr val="8B949E"/>
                          </a:solidFill>
                        </a:rPr>
                        <a:t>NATS/EMQX</a:t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</a:pPr>
                      <a:r>
                        <a:rPr sz="900" b="1">
                          <a:solidFill>
                            <a:srgbClr val="8B949E"/>
                          </a:solidFill>
                        </a:rPr>
                        <a:t>Consul/etcd</a:t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</a:pPr>
                      <a:r>
                        <a:rPr sz="900" b="1">
                          <a:solidFill>
                            <a:srgbClr val="8B949E"/>
                          </a:solidFill>
                        </a:rPr>
                        <a:t>Akka</a:t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</a:pPr>
                      <a:r>
                        <a:rPr sz="900" b="1">
                          <a:solidFill>
                            <a:srgbClr val="8B949E"/>
                          </a:solidFill>
                        </a:rPr>
                        <a:t>Roll-your-own</a:t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</a:tr>
              <a:tr h="538480"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</a:pPr>
                      <a:r>
                        <a:rPr sz="900" b="0">
                          <a:solidFill>
                            <a:srgbClr val="C9D1D9"/>
                          </a:solidFill>
                        </a:rPr>
                        <a:t>Broker required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</a:pPr>
                      <a:r>
                        <a:rPr sz="900" b="1">
                          <a:solidFill>
                            <a:srgbClr val="3FB950"/>
                          </a:solidFill>
                        </a:rPr>
                        <a:t>None</a:t>
                      </a:r>
                    </a:p>
                  </a:txBody>
                  <a:tcPr>
                    <a:solidFill>
                      <a:srgbClr val="0D14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</a:pPr>
                      <a:r>
                        <a:rPr sz="900" b="0">
                          <a:solidFill>
                            <a:srgbClr val="C9D1D9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</a:pPr>
                      <a:r>
                        <a:rPr sz="900" b="0">
                          <a:solidFill>
                            <a:srgbClr val="C9D1D9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</a:pPr>
                      <a:r>
                        <a:rPr sz="900" b="0">
                          <a:solidFill>
                            <a:srgbClr val="C9D1D9"/>
                          </a:solidFill>
                        </a:rPr>
                        <a:t>Partial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</a:pPr>
                      <a:r>
                        <a:rPr sz="900" b="0">
                          <a:solidFill>
                            <a:srgbClr val="C9D1D9"/>
                          </a:solidFill>
                        </a:rPr>
                        <a:t>You build it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538480"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</a:pPr>
                      <a:r>
                        <a:rPr sz="900" b="0">
                          <a:solidFill>
                            <a:srgbClr val="C9D1D9"/>
                          </a:solidFill>
                        </a:rPr>
                        <a:t>Discovery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</a:pPr>
                      <a:r>
                        <a:rPr sz="900" b="1">
                          <a:solidFill>
                            <a:srgbClr val="3FB950"/>
                          </a:solidFill>
                        </a:rPr>
                        <a:t>TTL gossip · no lifecycle</a:t>
                      </a:r>
                    </a:p>
                  </a:txBody>
                  <a:tcPr>
                    <a:solidFill>
                      <a:srgbClr val="0D14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</a:pPr>
                      <a:r>
                        <a:rPr sz="900" b="0">
                          <a:solidFill>
                            <a:srgbClr val="C9D1D9"/>
                          </a:solidFill>
                        </a:rPr>
                        <a:t>Pub/sub+registry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</a:pPr>
                      <a:r>
                        <a:rPr sz="900" b="0">
                          <a:solidFill>
                            <a:srgbClr val="C9D1D9"/>
                          </a:solidFill>
                        </a:rPr>
                        <a:t>Centralised reg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</a:pPr>
                      <a:r>
                        <a:rPr sz="900" b="0">
                          <a:solidFill>
                            <a:srgbClr val="C9D1D9"/>
                          </a:solidFill>
                        </a:rPr>
                        <a:t>Gossip (limited)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</a:pPr>
                      <a:r>
                        <a:rPr sz="900" b="0">
                          <a:solidFill>
                            <a:srgbClr val="C9D1D9"/>
                          </a:solidFill>
                        </a:rPr>
                        <a:t>You build it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538480"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</a:pPr>
                      <a:r>
                        <a:rPr sz="900" b="0">
                          <a:solidFill>
                            <a:srgbClr val="C9D1D9"/>
                          </a:solidFill>
                        </a:rPr>
                        <a:t>Consensus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</a:pPr>
                      <a:r>
                        <a:rPr sz="900" b="1">
                          <a:solidFill>
                            <a:srgbClr val="3FB950"/>
                          </a:solidFill>
                        </a:rPr>
                        <a:t>Epidemic · no leader</a:t>
                      </a:r>
                    </a:p>
                  </a:txBody>
                  <a:tcPr>
                    <a:solidFill>
                      <a:srgbClr val="0D14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</a:pPr>
                      <a:r>
                        <a:rPr sz="900" b="0">
                          <a:solidFill>
                            <a:srgbClr val="FF7B72"/>
                          </a:solidFill>
                        </a:rPr>
                        <a:t>None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</a:pPr>
                      <a:r>
                        <a:rPr sz="900" b="0">
                          <a:solidFill>
                            <a:srgbClr val="C9D1D9"/>
                          </a:solidFill>
                        </a:rPr>
                        <a:t>Raft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</a:pPr>
                      <a:r>
                        <a:rPr sz="900" b="0">
                          <a:solidFill>
                            <a:srgbClr val="FF7B72"/>
                          </a:solidFill>
                        </a:rPr>
                        <a:t>None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</a:pPr>
                      <a:r>
                        <a:rPr sz="900" b="0">
                          <a:solidFill>
                            <a:srgbClr val="C9D1D9"/>
                          </a:solidFill>
                        </a:rPr>
                        <a:t>You build it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538480"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</a:pPr>
                      <a:r>
                        <a:rPr sz="900" b="0">
                          <a:solidFill>
                            <a:srgbClr val="C9D1D9"/>
                          </a:solidFill>
                        </a:rPr>
                        <a:t>A2A surface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</a:pPr>
                      <a:r>
                        <a:rPr sz="900" b="1">
                          <a:solidFill>
                            <a:srgbClr val="3FB950"/>
                          </a:solidFill>
                        </a:rPr>
                        <a:t>Built-in</a:t>
                      </a:r>
                    </a:p>
                  </a:txBody>
                  <a:tcPr>
                    <a:solidFill>
                      <a:srgbClr val="0D14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</a:pPr>
                      <a:r>
                        <a:rPr sz="900" b="0">
                          <a:solidFill>
                            <a:srgbClr val="C9D1D9"/>
                          </a:solidFill>
                        </a:rPr>
                        <a:t>Via bridge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</a:pPr>
                      <a:r>
                        <a:rPr sz="900" b="0">
                          <a:solidFill>
                            <a:srgbClr val="FF7B72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</a:pPr>
                      <a:r>
                        <a:rPr sz="900" b="0">
                          <a:solidFill>
                            <a:srgbClr val="FF7B72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</a:pPr>
                      <a:r>
                        <a:rPr sz="900" b="0">
                          <a:solidFill>
                            <a:srgbClr val="C9D1D9"/>
                          </a:solidFill>
                        </a:rPr>
                        <a:t>You build it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538480"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</a:pPr>
                      <a:r>
                        <a:rPr sz="900" b="0">
                          <a:solidFill>
                            <a:srgbClr val="C9D1D9"/>
                          </a:solidFill>
                        </a:rPr>
                        <a:t>Cluster sharding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</a:pPr>
                      <a:r>
                        <a:rPr sz="900" b="1">
                          <a:solidFill>
                            <a:srgbClr val="3FB950"/>
                          </a:solidFill>
                        </a:rPr>
                        <a:t>Built-in (FNV ring)</a:t>
                      </a:r>
                    </a:p>
                  </a:txBody>
                  <a:tcPr>
                    <a:solidFill>
                      <a:srgbClr val="0D14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</a:pPr>
                      <a:r>
                        <a:rPr sz="900" b="0">
                          <a:solidFill>
                            <a:srgbClr val="C9D1D9"/>
                          </a:solidFill>
                        </a:rPr>
                        <a:t>Via JetStream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</a:pPr>
                      <a:r>
                        <a:rPr sz="900" b="0">
                          <a:solidFill>
                            <a:srgbClr val="FF7B72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</a:pPr>
                      <a:r>
                        <a:rPr sz="900" b="0">
                          <a:solidFill>
                            <a:srgbClr val="C9D1D9"/>
                          </a:solidFill>
                        </a:rPr>
                        <a:t>Yes (coordinator)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</a:pPr>
                      <a:r>
                        <a:rPr sz="900" b="0">
                          <a:solidFill>
                            <a:srgbClr val="C9D1D9"/>
                          </a:solidFill>
                        </a:rPr>
                        <a:t>You build it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538480"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</a:pPr>
                      <a:r>
                        <a:rPr sz="900" b="0">
                          <a:solidFill>
                            <a:srgbClr val="C9D1D9"/>
                          </a:solidFill>
                        </a:rPr>
                        <a:t>Agentic Flow Networks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</a:pPr>
                      <a:r>
                        <a:rPr sz="900" b="1">
                          <a:solidFill>
                            <a:srgbClr val="3FB950"/>
                          </a:solidFill>
                        </a:rPr>
                        <a:t>Built-in</a:t>
                      </a:r>
                    </a:p>
                  </a:txBody>
                  <a:tcPr>
                    <a:solidFill>
                      <a:srgbClr val="0D14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</a:pPr>
                      <a:r>
                        <a:rPr sz="900" b="0">
                          <a:solidFill>
                            <a:srgbClr val="FF7B72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</a:pPr>
                      <a:r>
                        <a:rPr sz="900" b="0">
                          <a:solidFill>
                            <a:srgbClr val="FF7B72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</a:pPr>
                      <a:r>
                        <a:rPr sz="900" b="0">
                          <a:solidFill>
                            <a:srgbClr val="C9D1D9"/>
                          </a:solidFill>
                        </a:rPr>
                        <a:t>Akka Streams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</a:pPr>
                      <a:r>
                        <a:rPr sz="900" b="0">
                          <a:solidFill>
                            <a:srgbClr val="C9D1D9"/>
                          </a:solidFill>
                        </a:rPr>
                        <a:t>You build it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538480"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</a:pPr>
                      <a:r>
                        <a:rPr sz="900" b="0">
                          <a:solidFill>
                            <a:srgbClr val="C9D1D9"/>
                          </a:solidFill>
                        </a:rPr>
                        <a:t>Prompt Skills (LLM)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</a:pPr>
                      <a:r>
                        <a:rPr sz="900" b="1">
                          <a:solidFill>
                            <a:srgbClr val="3FB950"/>
                          </a:solidFill>
                        </a:rPr>
                        <a:t>Built-in</a:t>
                      </a:r>
                    </a:p>
                  </a:txBody>
                  <a:tcPr>
                    <a:solidFill>
                      <a:srgbClr val="0D14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</a:pPr>
                      <a:r>
                        <a:rPr sz="900" b="0">
                          <a:solidFill>
                            <a:srgbClr val="FF7B72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</a:pPr>
                      <a:r>
                        <a:rPr sz="900" b="0">
                          <a:solidFill>
                            <a:srgbClr val="FF7B72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</a:pPr>
                      <a:r>
                        <a:rPr sz="900" b="0">
                          <a:solidFill>
                            <a:srgbClr val="FF7B72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</a:pPr>
                      <a:r>
                        <a:rPr sz="900" b="0">
                          <a:solidFill>
                            <a:srgbClr val="C9D1D9"/>
                          </a:solidFill>
                        </a:rPr>
                        <a:t>You build it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538480"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</a:pPr>
                      <a:r>
                        <a:rPr sz="900" b="0">
                          <a:solidFill>
                            <a:srgbClr val="C9D1D9"/>
                          </a:solidFill>
                        </a:rPr>
                        <a:t>Ops burden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</a:pPr>
                      <a:r>
                        <a:rPr sz="900" b="1">
                          <a:solidFill>
                            <a:srgbClr val="3FB950"/>
                          </a:solidFill>
                        </a:rPr>
                        <a:t>Zero</a:t>
                      </a:r>
                    </a:p>
                  </a:txBody>
                  <a:tcPr>
                    <a:solidFill>
                      <a:srgbClr val="0D14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</a:pPr>
                      <a:r>
                        <a:rPr sz="900" b="0">
                          <a:solidFill>
                            <a:srgbClr val="C9D1D9"/>
                          </a:solidFill>
                        </a:rPr>
                        <a:t>Broker+config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</a:pPr>
                      <a:r>
                        <a:rPr sz="900" b="0">
                          <a:solidFill>
                            <a:srgbClr val="C9D1D9"/>
                          </a:solidFill>
                        </a:rPr>
                        <a:t>Registry+agents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</a:pPr>
                      <a:r>
                        <a:rPr sz="900" b="0">
                          <a:solidFill>
                            <a:srgbClr val="C9D1D9"/>
                          </a:solidFill>
                        </a:rPr>
                        <a:t>Cluster manager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</a:pPr>
                      <a:r>
                        <a:rPr sz="900" b="0">
                          <a:solidFill>
                            <a:srgbClr val="C9D1D9"/>
                          </a:solidFill>
                        </a:rPr>
                        <a:t>Everything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365760" y="6327648"/>
            <a:ext cx="11457432" cy="384048"/>
          </a:xfrm>
          <a:prstGeom prst="rect">
            <a:avLst/>
          </a:prstGeom>
          <a:solidFill>
            <a:srgbClr val="1C2128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6327648"/>
            <a:ext cx="38100" cy="384048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6419088"/>
            <a:ext cx="1127455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C9D1D9"/>
                </a:solidFill>
              </a:rPr>
              <a:t>Each 'separate system' row is a new process to operate, a new failure mode, and a new ops surface to audit. Mycelium collapses them all.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B949E"/>
                </a:solidFill>
              </a:rPr>
              <a:t>LANGUAGE BRIDGES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1672" y="16459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B949E"/>
                </a:solidFill>
              </a:rPr>
              <a:t>11 / 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6EDF3"/>
                </a:solidFill>
              </a:rPr>
              <a:t>Your team writes Python or TypeScript.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07008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58A6FF"/>
                </a:solidFill>
              </a:rPr>
              <a:t>Mycelium speaks gossip.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949E"/>
                </a:solidFill>
              </a:rPr>
              <a:t>A thin Rust sidecar exposes the full mesh API over a local HTTP gateway. No native extension. ~1 ms overhead — invisible next to LLM inference latency.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11274552" cy="127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74519"/>
            <a:ext cx="2743200" cy="11887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74519"/>
            <a:ext cx="54864" cy="118872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965959"/>
            <a:ext cx="2578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6EDF3"/>
                </a:solidFill>
              </a:rPr>
              <a:t>pip install mycelium-py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221991"/>
            <a:ext cx="2578608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B949E"/>
                </a:solidFill>
              </a:rPr>
              <a:t>Full mesh API from Python: KV, capabilities, RPC, signals, mailbox, consensus, A2A, Prompt Skills. Async-native with SSE streaming.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55848" y="1874519"/>
            <a:ext cx="2743200" cy="11887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55848" y="1874519"/>
            <a:ext cx="54864" cy="118872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65576" y="1965959"/>
            <a:ext cx="2578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6EDF3"/>
                </a:solidFill>
              </a:rPr>
              <a:t>npm install mycelium-ts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65576" y="2221991"/>
            <a:ext cx="2578608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B949E"/>
                </a:solidFill>
              </a:rPr>
              <a:t>Identical API surface in TypeScript. Native Promises, full type safety. Works in Node.js contexts via the HTTP gateway.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54496" y="1874519"/>
            <a:ext cx="2743200" cy="11887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54496" y="1874519"/>
            <a:ext cx="54864" cy="1188720"/>
          </a:xfrm>
          <a:prstGeom prst="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64224" y="1965959"/>
            <a:ext cx="2578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6EDF3"/>
                </a:solidFill>
              </a:rPr>
              <a:t>LangChain + AutoGen (A2A)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64224" y="2221991"/>
            <a:ext cx="2578608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B949E"/>
                </a:solidFill>
              </a:rPr>
              <a:t>examples/a2a_langchain/ — external agents auto-discover Mycelium skills via /.well-known/agent.json and use them as native tools.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53144" y="1874519"/>
            <a:ext cx="2743200" cy="11887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53144" y="1874519"/>
            <a:ext cx="54864" cy="1188720"/>
          </a:xfrm>
          <a:prstGeom prst="rect">
            <a:avLst/>
          </a:prstGeom>
          <a:solidFill>
            <a:srgbClr val="FFA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62872" y="1965959"/>
            <a:ext cx="2578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6EDF3"/>
                </a:solidFill>
              </a:rPr>
              <a:t>Reference: fluid pipeline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62872" y="2221991"/>
            <a:ext cx="2578608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B949E"/>
                </a:solidFill>
              </a:rPr>
              <a:t>examples/fluid_pipeline/ — 10 Python workers, zero Rust in the application layer. Full 4-stage AFN pipeline via mycelium-py.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24612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FB950"/>
                </a:solidFill>
              </a:rPr>
              <a:t>Python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474720"/>
            <a:ext cx="5303520" cy="14173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3547872"/>
            <a:ext cx="508406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9D1D9"/>
                </a:solidFill>
              </a:rPr>
              <a:t>from mycelium import MyceliumAgent
agent = MyceliumAgent('127.0.0.1', 8300)
agent.advertise_capability('compute', 'gpu', attributes={'model':'A100'})
providers = agent.resolve_capability('compute', 'gpu')
with agent.distributed_lock('job-42') as lock:
    leader = agent.elect_leader('shard-0')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24612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8A6FF"/>
                </a:solidFill>
              </a:rPr>
              <a:t>TypeScript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3474720"/>
            <a:ext cx="5303520" cy="14173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10528" y="3547872"/>
            <a:ext cx="508406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9D1D9"/>
                </a:solidFill>
              </a:rPr>
              <a:t>import { MyceliumAgent } from 'mycelium-ts';
const agent = new MyceliumAgent('127.0.0.1', 8300);
await agent.advertiseCapability('compute', 'gpu',
  { attributes: { model: 'A100' } });
const leader = await agent.electLeader('shard-0');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029200"/>
            <a:ext cx="11274552" cy="384048"/>
          </a:xfrm>
          <a:prstGeom prst="rect">
            <a:avLst/>
          </a:prstGeom>
          <a:solidFill>
            <a:srgbClr val="1C2128"/>
          </a:solidFill>
          <a:ln w="1270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5029200"/>
            <a:ext cx="38100" cy="384048"/>
          </a:xfrm>
          <a:prstGeom prst="rect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6928" y="5120640"/>
            <a:ext cx="110916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C9D1D9"/>
                </a:solidFill>
              </a:rPr>
              <a:t>Hint: use the bridge when your team writes Python/TypeScript. Use Rust directly for max throughput or mTLS (--features tls).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B949E"/>
                </a:solidFill>
              </a:rPr>
              <a:t>PRODUCTION READY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1672" y="16459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B949E"/>
                </a:solidFill>
              </a:rPr>
              <a:t>12 / 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6EDF3"/>
                </a:solidFill>
              </a:rPr>
              <a:t>Battle-tested.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07008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58A6FF"/>
                </a:solidFill>
              </a:rPr>
              <a:t>Shipping-ready.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11274552" cy="127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2743200" cy="13716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54864" cy="13716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554480"/>
            <a:ext cx="2578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6EDF3"/>
                </a:solidFill>
              </a:rPr>
              <a:t>263 tests · 12/12 scenarios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810512"/>
            <a:ext cx="2578608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B949E"/>
                </a:solidFill>
              </a:rPr>
              <a:t>Full unit suite plus 12 end-to-end Docker integration scenarios. KV propagation, consensus, anti-entropy, AFN, Prompt Skills — all automated, all passing.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55848" y="1463040"/>
            <a:ext cx="2743200" cy="13716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55848" y="1463040"/>
            <a:ext cx="54864" cy="13716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65576" y="1554480"/>
            <a:ext cx="2578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6EDF3"/>
                </a:solidFill>
              </a:rPr>
              <a:t>Wire version policy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65576" y="1810512"/>
            <a:ext cx="2578608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B949E"/>
                </a:solidFill>
              </a:rPr>
              <a:t>Wire v11 current. PREV_WIRE_VERSION=10 — rolling upgrade window keeps the entire cluster online during version transitions. No downtime deploys.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54496" y="1463040"/>
            <a:ext cx="2743200" cy="13716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54496" y="1463040"/>
            <a:ext cx="54864" cy="1371600"/>
          </a:xfrm>
          <a:prstGeom prst="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64224" y="1554480"/>
            <a:ext cx="2578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6EDF3"/>
                </a:solidFill>
              </a:rPr>
              <a:t>Durable persistence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4224" y="1810512"/>
            <a:ext cx="2578608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B949E"/>
                </a:solidFill>
              </a:rPr>
              <a:t>WAL-backed KV with SyncMode::Flush. State survives unclean shutdowns. Anti-entropy ensures restarters converge to the same state.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53144" y="1463040"/>
            <a:ext cx="2743200" cy="13716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53144" y="1463040"/>
            <a:ext cx="54864" cy="1371600"/>
          </a:xfrm>
          <a:prstGeom prst="rect">
            <a:avLst/>
          </a:prstGeom>
          <a:solidFill>
            <a:srgbClr val="FFA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62872" y="1554480"/>
            <a:ext cx="2578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6EDF3"/>
                </a:solidFill>
              </a:rPr>
              <a:t>100-node scale tested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62872" y="1810512"/>
            <a:ext cx="2578608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B949E"/>
                </a:solidFill>
              </a:rPr>
              <a:t>make test-scale spins 100 Docker nodes: cluster formation, KV propagation seed→mgmt, zero dropped frames.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01752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949E"/>
                </a:solidFill>
              </a:rPr>
              <a:t>12 Integration Scenarios — All Passing</a:t>
            </a:r>
          </a:p>
        </p:txBody>
      </p:sp>
      <p:sp>
        <p:nvSpPr>
          <p:cNvPr id="24" name="Oval 23"/>
          <p:cNvSpPr/>
          <p:nvPr/>
        </p:nvSpPr>
        <p:spPr>
          <a:xfrm>
            <a:off x="457200" y="3456432"/>
            <a:ext cx="182880" cy="182880"/>
          </a:xfrm>
          <a:prstGeom prst="ellipse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3401568"/>
            <a:ext cx="54543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  01  KV propagation across cluster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45836" y="3401568"/>
            <a:ext cx="502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3FB950"/>
                </a:solidFill>
              </a:rPr>
              <a:t>PASS</a:t>
            </a:r>
          </a:p>
        </p:txBody>
      </p:sp>
      <p:sp>
        <p:nvSpPr>
          <p:cNvPr id="27" name="Oval 26"/>
          <p:cNvSpPr/>
          <p:nvPr/>
        </p:nvSpPr>
        <p:spPr>
          <a:xfrm>
            <a:off x="6094476" y="3456432"/>
            <a:ext cx="182880" cy="182880"/>
          </a:xfrm>
          <a:prstGeom prst="ellipse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67628" y="3401568"/>
            <a:ext cx="54543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  02  Signal broadcast + boundary enforcement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83112" y="3401568"/>
            <a:ext cx="502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3FB950"/>
                </a:solidFill>
              </a:rPr>
              <a:t>PASS</a:t>
            </a:r>
          </a:p>
        </p:txBody>
      </p:sp>
      <p:sp>
        <p:nvSpPr>
          <p:cNvPr id="30" name="Oval 29"/>
          <p:cNvSpPr/>
          <p:nvPr/>
        </p:nvSpPr>
        <p:spPr>
          <a:xfrm>
            <a:off x="457200" y="3803904"/>
            <a:ext cx="182880" cy="182880"/>
          </a:xfrm>
          <a:prstGeom prst="ellipse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" y="3749040"/>
            <a:ext cx="54543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  03  Consensus proposal acceptance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45836" y="3749040"/>
            <a:ext cx="502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3FB950"/>
                </a:solidFill>
              </a:rPr>
              <a:t>PASS</a:t>
            </a:r>
          </a:p>
        </p:txBody>
      </p:sp>
      <p:sp>
        <p:nvSpPr>
          <p:cNvPr id="33" name="Oval 32"/>
          <p:cNvSpPr/>
          <p:nvPr/>
        </p:nvSpPr>
        <p:spPr>
          <a:xfrm>
            <a:off x="6094476" y="3803904"/>
            <a:ext cx="182880" cy="182880"/>
          </a:xfrm>
          <a:prstGeom prst="ellipse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67628" y="3749040"/>
            <a:ext cx="54543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  04  Full cluster restart + state recovery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83112" y="3749040"/>
            <a:ext cx="502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3FB950"/>
                </a:solidFill>
              </a:rPr>
              <a:t>PASS</a:t>
            </a:r>
          </a:p>
        </p:txBody>
      </p:sp>
      <p:sp>
        <p:nvSpPr>
          <p:cNvPr id="36" name="Oval 35"/>
          <p:cNvSpPr/>
          <p:nvPr/>
        </p:nvSpPr>
        <p:spPr>
          <a:xfrm>
            <a:off x="457200" y="4151376"/>
            <a:ext cx="182880" cy="182880"/>
          </a:xfrm>
          <a:prstGeom prst="ellipse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0352" y="4096512"/>
            <a:ext cx="54543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  05  Anti-entropy late joiner catch-up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45836" y="4096512"/>
            <a:ext cx="502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3FB950"/>
                </a:solidFill>
              </a:rPr>
              <a:t>PASS</a:t>
            </a:r>
          </a:p>
        </p:txBody>
      </p:sp>
      <p:sp>
        <p:nvSpPr>
          <p:cNvPr id="39" name="Oval 38"/>
          <p:cNvSpPr/>
          <p:nvPr/>
        </p:nvSpPr>
        <p:spPr>
          <a:xfrm>
            <a:off x="6094476" y="4151376"/>
            <a:ext cx="182880" cy="182880"/>
          </a:xfrm>
          <a:prstGeom prst="ellipse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67628" y="4096512"/>
            <a:ext cx="54543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  06  Signal propagation boundaries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83112" y="4096512"/>
            <a:ext cx="502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3FB950"/>
                </a:solidFill>
              </a:rPr>
              <a:t>PASS</a:t>
            </a:r>
          </a:p>
        </p:txBody>
      </p:sp>
      <p:sp>
        <p:nvSpPr>
          <p:cNvPr id="42" name="Oval 41"/>
          <p:cNvSpPr/>
          <p:nvPr/>
        </p:nvSpPr>
        <p:spPr>
          <a:xfrm>
            <a:off x="457200" y="4498848"/>
            <a:ext cx="182880" cy="182880"/>
          </a:xfrm>
          <a:prstGeom prst="ellipse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0352" y="4443984"/>
            <a:ext cx="54543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  07  Capability discovery convergence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45836" y="4443984"/>
            <a:ext cx="502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3FB950"/>
                </a:solidFill>
              </a:rPr>
              <a:t>PASS</a:t>
            </a:r>
          </a:p>
        </p:txBody>
      </p:sp>
      <p:sp>
        <p:nvSpPr>
          <p:cNvPr id="45" name="Oval 44"/>
          <p:cNvSpPr/>
          <p:nvPr/>
        </p:nvSpPr>
        <p:spPr>
          <a:xfrm>
            <a:off x="6094476" y="4498848"/>
            <a:ext cx="182880" cy="182880"/>
          </a:xfrm>
          <a:prstGeom prst="ellipse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67628" y="4443984"/>
            <a:ext cx="54543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  08  Scatter-gather fan-out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183112" y="4443984"/>
            <a:ext cx="502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3FB950"/>
                </a:solidFill>
              </a:rPr>
              <a:t>PASS</a:t>
            </a:r>
          </a:p>
        </p:txBody>
      </p:sp>
      <p:sp>
        <p:nvSpPr>
          <p:cNvPr id="48" name="Oval 47"/>
          <p:cNvSpPr/>
          <p:nvPr/>
        </p:nvSpPr>
        <p:spPr>
          <a:xfrm>
            <a:off x="457200" y="4846320"/>
            <a:ext cx="182880" cy="182880"/>
          </a:xfrm>
          <a:prstGeom prst="ellipse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30352" y="4791456"/>
            <a:ext cx="54543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  09  Bulk large payload delivery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545836" y="4791456"/>
            <a:ext cx="502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3FB950"/>
                </a:solidFill>
              </a:rPr>
              <a:t>PASS</a:t>
            </a:r>
          </a:p>
        </p:txBody>
      </p:sp>
      <p:sp>
        <p:nvSpPr>
          <p:cNvPr id="51" name="Oval 50"/>
          <p:cNvSpPr/>
          <p:nvPr/>
        </p:nvSpPr>
        <p:spPr>
          <a:xfrm>
            <a:off x="6094476" y="4846320"/>
            <a:ext cx="182880" cy="182880"/>
          </a:xfrm>
          <a:prstGeom prst="ellipse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67628" y="4791456"/>
            <a:ext cx="54543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  10  Mailbox reliable delivery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183112" y="4791456"/>
            <a:ext cx="502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3FB950"/>
                </a:solidFill>
              </a:rPr>
              <a:t>PASS</a:t>
            </a:r>
          </a:p>
        </p:txBody>
      </p:sp>
      <p:sp>
        <p:nvSpPr>
          <p:cNvPr id="54" name="Oval 53"/>
          <p:cNvSpPr/>
          <p:nvPr/>
        </p:nvSpPr>
        <p:spPr>
          <a:xfrm>
            <a:off x="457200" y="5193792"/>
            <a:ext cx="182880" cy="182880"/>
          </a:xfrm>
          <a:prstGeom prst="ellipse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30352" y="5138928"/>
            <a:ext cx="54543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  11  Agentic Flow Network pipeline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545836" y="5138928"/>
            <a:ext cx="502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3FB950"/>
                </a:solidFill>
              </a:rPr>
              <a:t>PASS</a:t>
            </a:r>
          </a:p>
        </p:txBody>
      </p:sp>
      <p:sp>
        <p:nvSpPr>
          <p:cNvPr id="57" name="Oval 56"/>
          <p:cNvSpPr/>
          <p:nvPr/>
        </p:nvSpPr>
        <p:spPr>
          <a:xfrm>
            <a:off x="6094476" y="5193792"/>
            <a:ext cx="182880" cy="182880"/>
          </a:xfrm>
          <a:prstGeom prst="ellipse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167628" y="5138928"/>
            <a:ext cx="54543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  12  Prompt Skills — KV propagation + invoke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183112" y="5138928"/>
            <a:ext cx="502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3FB950"/>
                </a:solidFill>
              </a:rPr>
              <a:t>PASS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B949E"/>
                </a:solidFill>
              </a:rPr>
              <a:t>RUNNING 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1672" y="16459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B949E"/>
                </a:solidFill>
              </a:rPr>
              <a:t>13 / 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6EDF3"/>
                </a:solidFill>
              </a:rPr>
              <a:t>Three demos.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07008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58A6FF"/>
                </a:solidFill>
              </a:rPr>
              <a:t>Zero setup overhead.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949E"/>
                </a:solidFill>
              </a:rPr>
              <a:t>Each example ships in the repo and runs with a single command.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98448"/>
            <a:ext cx="11274552" cy="127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00200"/>
            <a:ext cx="3566160" cy="3657600"/>
          </a:xfrm>
          <a:prstGeom prst="rect">
            <a:avLst/>
          </a:prstGeom>
          <a:solidFill>
            <a:srgbClr val="161B22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600200"/>
            <a:ext cx="3566160" cy="73152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755648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EDF3"/>
                </a:solidFill>
              </a:rPr>
              <a:t>Agentic Flow Network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121408"/>
            <a:ext cx="33375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4-stage news pipeline. 10 Python workers fluid-allocated across stages. KV ring as distributed buffer. Backpressure via TTL opacity.
docker compose up --build --scale worker=10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956048"/>
            <a:ext cx="3337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FB950"/>
                </a:solidFill>
              </a:rPr>
              <a:t>examples/fluid_pipeline/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1600200"/>
            <a:ext cx="3566160" cy="3657600"/>
          </a:xfrm>
          <a:prstGeom prst="rect">
            <a:avLst/>
          </a:prstGeom>
          <a:solidFill>
            <a:srgbClr val="161B22"/>
          </a:solidFill>
          <a:ln w="19050">
            <a:solidFill>
              <a:srgbClr val="D2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600200"/>
            <a:ext cx="3566160" cy="73152"/>
          </a:xfrm>
          <a:prstGeom prst="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1755648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EDF3"/>
                </a:solidFill>
              </a:rPr>
              <a:t>LangChain + AutoGen A2A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121408"/>
            <a:ext cx="33375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LangChain ReAct + AutoGen v0.4 auto-discover Mycelium skills via /.well-known/agent.json and call them as native tools — no manual wiring.
cargo build --bin skillrunner --features a2a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4956048"/>
            <a:ext cx="3337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2A8FF"/>
                </a:solidFill>
              </a:rPr>
              <a:t>examples/a2a_langchain/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21040" y="1600200"/>
            <a:ext cx="3566160" cy="3657600"/>
          </a:xfrm>
          <a:prstGeom prst="rect">
            <a:avLst/>
          </a:prstGeom>
          <a:solidFill>
            <a:srgbClr val="161B22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21040" y="1600200"/>
            <a:ext cx="3566160" cy="7315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58200" y="1755648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EDF3"/>
                </a:solidFill>
              </a:rPr>
              <a:t>LLM Agent + Prompt Skills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2121408"/>
            <a:ext cx="33375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Three-node cluster with live management UI. Prompt Skills propagate over KV gossip. MOCK_LLM=1 removes Ollama dependency.
MOCK_LLM=1 cargo run --example llm_agent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4956048"/>
            <a:ext cx="3337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8A6FF"/>
                </a:solidFill>
              </a:rPr>
              <a:t>→ http://127.0.0.1:8100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486400"/>
            <a:ext cx="11274552" cy="502920"/>
          </a:xfrm>
          <a:prstGeom prst="rect">
            <a:avLst/>
          </a:prstGeom>
          <a:solidFill>
            <a:srgbClr val="1C2128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5486400"/>
            <a:ext cx="38100" cy="50292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557784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C9D1D9"/>
                </a:solidFill>
              </a:rPr>
              <a:t>More in examples/: Conway's Life distributed GPU, semantic coordination (FIPA-ACL), three-node mesh demo, cross-group consensus scenarios.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B949E"/>
                </a:solidFill>
              </a:rPr>
              <a:t>GET STARTED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1672" y="16459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B949E"/>
                </a:solidFill>
              </a:rPr>
              <a:t>14 / 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6EDF3"/>
                </a:solidFill>
              </a:rPr>
              <a:t>One library.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07008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58A6FF"/>
                </a:solidFill>
              </a:rPr>
              <a:t>Zero infrastructure.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11274552" cy="127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5303520" cy="10058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50292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# github.com/RichardEko/mycelium
# Rust
cargo add mycelium
# Python
pip install mycelium-py
# TypeScript
npm install mycelium-ts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578608"/>
            <a:ext cx="5303520" cy="10972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651760"/>
            <a:ext cx="502920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# Interactive demo — no Ollama needed
MOCK_LLM=1 cargo run --example llm_agent
# → open http://127.0.0.1:8100
# AFN pipeline — 10 Python workers
cd examples/fluid_pipeline
docker compose up --build --scale worker=10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463040"/>
            <a:ext cx="5303520" cy="105156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1463040"/>
            <a:ext cx="54864" cy="105156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0528" y="1554480"/>
            <a:ext cx="5138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6EDF3"/>
                </a:solidFill>
              </a:rPr>
              <a:t>Developer guide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1810512"/>
            <a:ext cx="5138928" cy="64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B949E"/>
                </a:solidFill>
              </a:rPr>
              <a:t>docs/guide/README.md — 12 chapters from basic KV through AFN and cross-group consensus. Runnable examples throughout.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2578608"/>
            <a:ext cx="5303520" cy="105156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2578608"/>
            <a:ext cx="54864" cy="105156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0528" y="2670048"/>
            <a:ext cx="5138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6EDF3"/>
                </a:solidFill>
              </a:rPr>
              <a:t>Integration scenarios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0528" y="2926080"/>
            <a:ext cx="5138928" cy="64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B949E"/>
                </a:solidFill>
              </a:rPr>
              <a:t>make test runs all 12 Docker scenarios. Each is a reference implementation of a specific pattern.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3694176"/>
            <a:ext cx="5303520" cy="105156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0" y="3694176"/>
            <a:ext cx="54864" cy="1051560"/>
          </a:xfrm>
          <a:prstGeom prst="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0528" y="3785616"/>
            <a:ext cx="5138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6EDF3"/>
                </a:solidFill>
              </a:rPr>
              <a:t>NANDA federation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0528" y="4041648"/>
            <a:ext cx="5138928" cy="64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B949E"/>
                </a:solidFill>
              </a:rPr>
              <a:t>Add .with_a2a() to your builder. Point a NANDA AgentAddr record at your cluster. You're on the agent internet.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669280"/>
            <a:ext cx="11274552" cy="502920"/>
          </a:xfrm>
          <a:prstGeom prst="rect">
            <a:avLst/>
          </a:prstGeom>
          <a:solidFill>
            <a:srgbClr val="1C2128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5669280"/>
            <a:ext cx="38100" cy="50292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576072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C9D1D9"/>
                </a:solidFill>
              </a:rPr>
              <a:t>Philosophy: if you need to manage infrastructure to use Mycelium, something has gone wrong. The goal is zero ops — embed it, start it, forget it.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B949E"/>
                </a:solidFill>
              </a:rPr>
              <a:t>NAVIGATION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1672" y="16459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B949E"/>
                </a:solidFill>
              </a:rPr>
              <a:t>15 / 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112745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A657"/>
                </a:solidFill>
              </a:rPr>
              <a:t>Technical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474720"/>
            <a:ext cx="94457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8B949E"/>
                </a:solidFill>
              </a:rPr>
              <a:t>The following slides cover the architecture in detail — layer model, wire format,
consensus protocol, security model, and API reference.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434840"/>
            <a:ext cx="3657600" cy="34747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4489704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A1 · Architecture Layers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4434840"/>
            <a:ext cx="3657600" cy="34747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98848" y="4489704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A2 · KV Store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21040" y="4434840"/>
            <a:ext cx="3657600" cy="34747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30768" y="4489704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A3 · Signal Mesh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873752"/>
            <a:ext cx="3657600" cy="34747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4928616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A4 · Consensus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4873752"/>
            <a:ext cx="3657600" cy="34747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98848" y="4928616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A5 · Security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21040" y="4873752"/>
            <a:ext cx="3657600" cy="34747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0768" y="4928616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A6 · Observability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312664"/>
            <a:ext cx="3657600" cy="34747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536752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A7 · A2A &amp; Sharding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120" y="5312664"/>
            <a:ext cx="3657600" cy="34747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98848" y="536752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A8 · Prompt Skills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21040" y="5312664"/>
            <a:ext cx="3657600" cy="34747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30768" y="536752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A9 · Semantic Coordination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A657"/>
                </a:solidFill>
              </a:rPr>
              <a:t>APPENDIX A1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1672" y="16459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B949E"/>
                </a:solidFill>
              </a:rPr>
              <a:t>16 / 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6EDF3"/>
                </a:solidFill>
              </a:rPr>
              <a:t>Three-layer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07008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58A6FF"/>
                </a:solidFill>
              </a:rPr>
              <a:t>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11274552" cy="127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3657600" cy="11887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08760"/>
            <a:ext cx="54864" cy="118872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600200"/>
            <a:ext cx="34930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6EDF3"/>
                </a:solidFill>
              </a:rPr>
              <a:t>Layer I — KV Store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856232"/>
            <a:ext cx="3493008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B949E"/>
                </a:solidFill>
              </a:rPr>
              <a:t>Last-write-wins gossip over TCP. HLC causal ordering. TTL per key. Anti-entropy on reconnect. WAL persistence. Bloom-filtered dedup.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508760"/>
            <a:ext cx="3657600" cy="11887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508760"/>
            <a:ext cx="54864" cy="118872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07408" y="1600200"/>
            <a:ext cx="34930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6EDF3"/>
                </a:solidFill>
              </a:rPr>
              <a:t>Layer II — Signal Mesh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7408" y="1856232"/>
            <a:ext cx="3493008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B949E"/>
                </a:solidFill>
              </a:rPr>
              <a:t>Ephemeral scoped events. Broadcast / group / individual scopes. Opacity composition for admission control. Pheromone attenuation at group boundaries.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508760"/>
            <a:ext cx="3657600" cy="11887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508760"/>
            <a:ext cx="54864" cy="1188720"/>
          </a:xfrm>
          <a:prstGeom prst="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1600200"/>
            <a:ext cx="34930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6EDF3"/>
                </a:solidFill>
              </a:rPr>
              <a:t>Layer III — Consensus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1856232"/>
            <a:ext cx="3493008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B949E"/>
                </a:solidFill>
              </a:rPr>
              <a:t>CASPaxos-adjacent ballot voting. No Raft leader. consistent_set, distributed_lock, elect_leader, cross_group_propose via GroupQuorum.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834640"/>
            <a:ext cx="11274552" cy="502920"/>
          </a:xfrm>
          <a:prstGeom prst="rect">
            <a:avLst/>
          </a:prstGeom>
          <a:solidFill>
            <a:srgbClr val="1C2128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2834640"/>
            <a:ext cx="38100" cy="50292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292608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C9D1D9"/>
                </a:solidFill>
              </a:rPr>
              <a:t>Single KV substrate — all three layers write to dedicated key prefixes (cap/, sig/, consensus/, sys/) via the same gossip mechanism. One substrate, many namespaces.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429000"/>
            <a:ext cx="11274552" cy="502920"/>
          </a:xfrm>
          <a:prstGeom prst="rect">
            <a:avLst/>
          </a:prstGeom>
          <a:solidFill>
            <a:srgbClr val="1C2128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3429000"/>
            <a:ext cx="38100" cy="50292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352044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C9D1D9"/>
                </a:solidFill>
              </a:rPr>
              <a:t>Structural Inversion: AP substrate always available. CP overlay opt-in. Pay for ordering guarantees only where your application demands them.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151376"/>
            <a:ext cx="73152" cy="73152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3504" y="4069080"/>
            <a:ext cx="111282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C9D1D9"/>
                </a:solidFill>
              </a:rPr>
              <a:t>kv().set(key, val)  /  kv().get(key)  /  kv().scan_prefix('cap/')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480560"/>
            <a:ext cx="73152" cy="73152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3504" y="4398264"/>
            <a:ext cx="111282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C9D1D9"/>
                </a:solidFill>
              </a:rPr>
              <a:t>kv().set_with_min_acks(key, val, min_acks=2)   — wait for N peers to confirm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809744"/>
            <a:ext cx="73152" cy="73152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3504" y="4727448"/>
            <a:ext cx="111282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C9D1D9"/>
                </a:solidFill>
              </a:rPr>
              <a:t>kv().subscribe_prefix('cap/')   — live change stream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138928"/>
            <a:ext cx="73152" cy="73152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3504" y="5056632"/>
            <a:ext cx="111282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C9D1D9"/>
                </a:solidFill>
              </a:rPr>
              <a:t>kv().append('events', payload)  /  kv().scan_log('events', from_hlc)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A657"/>
                </a:solidFill>
              </a:rPr>
              <a:t>APPENDIX A2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1672" y="16459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B949E"/>
                </a:solidFill>
              </a:rPr>
              <a:t>17 / 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6EDF3"/>
                </a:solidFill>
              </a:rPr>
              <a:t>KV Store 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07008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58A6FF"/>
                </a:solidFill>
              </a:rPr>
              <a:t>Persistent State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11274552" cy="127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5486400" cy="84124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08760"/>
            <a:ext cx="54864" cy="841248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600200"/>
            <a:ext cx="5321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6EDF3"/>
                </a:solidFill>
              </a:rPr>
              <a:t>LWW gossip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856232"/>
            <a:ext cx="532180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B949E"/>
                </a:solidFill>
              </a:rPr>
              <a:t>Last write wins, HLC timestamp, TCP transport. Every update carries a packed u64 clock — causal ordering without NTP.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508760"/>
            <a:ext cx="5486400" cy="84124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508760"/>
            <a:ext cx="54864" cy="841248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8" y="1600200"/>
            <a:ext cx="5321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6EDF3"/>
                </a:solidFill>
              </a:rPr>
              <a:t>Anti-entropy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7648" y="1856232"/>
            <a:ext cx="532180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B949E"/>
                </a:solidFill>
              </a:rPr>
              <a:t>On reconnect, nodes exchange Bloom-filtered seen-sets and push missing entries. Late joiners converge fully within seconds.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423160"/>
            <a:ext cx="5486400" cy="84124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423160"/>
            <a:ext cx="54864" cy="841248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2514600"/>
            <a:ext cx="5321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6EDF3"/>
                </a:solidFill>
              </a:rPr>
              <a:t>TTL per key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2770632"/>
            <a:ext cx="532180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B949E"/>
                </a:solidFill>
              </a:rPr>
              <a:t>Every key has a TTL. Tombstones travel the same path as writes. Dead nodes' capabilities expire automatically.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2423160"/>
            <a:ext cx="5486400" cy="84124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2423160"/>
            <a:ext cx="54864" cy="841248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27648" y="2514600"/>
            <a:ext cx="5321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6EDF3"/>
                </a:solidFill>
              </a:rPr>
              <a:t>WAL persistence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2770632"/>
            <a:ext cx="532180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B949E"/>
                </a:solidFill>
              </a:rPr>
              <a:t>SyncMode::Flush ensures state survives unclean shutdowns. The WAL is replayed on restart before gossip begins.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337560"/>
            <a:ext cx="5486400" cy="84124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3337560"/>
            <a:ext cx="54864" cy="841248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3429000"/>
            <a:ext cx="5321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6EDF3"/>
                </a:solidFill>
              </a:rPr>
              <a:t>set_with_min_acks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3685032"/>
            <a:ext cx="532180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B949E"/>
                </a:solidFill>
              </a:rPr>
              <a:t>Write and wait for N distinct peers to confirm receipt via gossip echo. Not consensus — durability confirmation.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3337560"/>
            <a:ext cx="5486400" cy="84124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17920" y="3337560"/>
            <a:ext cx="54864" cy="841248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27648" y="3429000"/>
            <a:ext cx="5321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6EDF3"/>
                </a:solidFill>
              </a:rPr>
              <a:t>Append-only log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27648" y="3685032"/>
            <a:ext cx="532180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B949E"/>
                </a:solidFill>
              </a:rPr>
              <a:t>append() + scan_log() + subscribe_log() provide a causally-ordered event stream over the KV substrate.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A657"/>
                </a:solidFill>
              </a:rPr>
              <a:t>APPENDIX A3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1672" y="16459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B949E"/>
                </a:solidFill>
              </a:rPr>
              <a:t>18 / 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6EDF3"/>
                </a:solidFill>
              </a:rPr>
              <a:t>Signal Mesh 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07008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58A6FF"/>
                </a:solidFill>
              </a:rPr>
              <a:t>Ephemeral Events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11274552" cy="127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5486400" cy="84124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08760"/>
            <a:ext cx="54864" cy="84124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600200"/>
            <a:ext cx="5321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6EDF3"/>
                </a:solidFill>
              </a:rPr>
              <a:t>Broadcast scope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856232"/>
            <a:ext cx="532180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B949E"/>
                </a:solidFill>
              </a:rPr>
              <a:t>Signal reaches all reachable nodes in the cluster. No subscription required — every node with a handler receives 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508760"/>
            <a:ext cx="5486400" cy="84124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508760"/>
            <a:ext cx="54864" cy="84124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8" y="1600200"/>
            <a:ext cx="5321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6EDF3"/>
                </a:solidFill>
              </a:rPr>
              <a:t>Group 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7648" y="1856232"/>
            <a:ext cx="532180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B949E"/>
                </a:solidFill>
              </a:rPr>
              <a:t>Signal reaches only nodes that are members of the named capability group. Stops at group boundaries.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423160"/>
            <a:ext cx="5486400" cy="84124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423160"/>
            <a:ext cx="54864" cy="84124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2514600"/>
            <a:ext cx="5321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6EDF3"/>
                </a:solidFill>
              </a:rPr>
              <a:t>Individual scope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2770632"/>
            <a:ext cx="532180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B949E"/>
                </a:solidFill>
              </a:rPr>
              <a:t>Direct delivery to a single named node. No broadcast overhead.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2423160"/>
            <a:ext cx="5486400" cy="84124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2423160"/>
            <a:ext cx="54864" cy="84124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27648" y="2514600"/>
            <a:ext cx="5321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6EDF3"/>
                </a:solidFill>
              </a:rPr>
              <a:t>Opacity composition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2770632"/>
            <a:ext cx="532180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B949E"/>
                </a:solidFill>
              </a:rPr>
              <a:t>Any load reason writes a sys/load/{self}/… key. Signals withheld from opaque nodes. Multiple causes compose automatically.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337560"/>
            <a:ext cx="5486400" cy="84124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3337560"/>
            <a:ext cx="54864" cy="84124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3429000"/>
            <a:ext cx="5321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6EDF3"/>
                </a:solidFill>
              </a:rPr>
              <a:t>Ordered delivery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3685032"/>
            <a:ext cx="532180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B949E"/>
                </a:solidFill>
              </a:rPr>
              <a:t>emit_ordered() adds HLC sequence numbers (wire v11). Reorder buffer reconstructs causal order on receiver.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3337560"/>
            <a:ext cx="5486400" cy="84124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17920" y="3337560"/>
            <a:ext cx="54864" cy="84124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27648" y="3429000"/>
            <a:ext cx="5321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6EDF3"/>
                </a:solidFill>
              </a:rPr>
              <a:t>Sender authorization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27648" y="3685032"/>
            <a:ext cx="532180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B949E"/>
                </a:solidFill>
              </a:rPr>
              <a:t>signal_rx_from(kind, trusted_list) delivers only signals from trusted senders — enforced at fan-out layer.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A657"/>
                </a:solidFill>
              </a:rPr>
              <a:t>APPENDIX A4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1672" y="16459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B949E"/>
                </a:solidFill>
              </a:rPr>
              <a:t>19 / 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6EDF3"/>
                </a:solidFill>
              </a:rPr>
              <a:t>Consensus 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07008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58A6FF"/>
                </a:solidFill>
              </a:rPr>
              <a:t>Ballot-Serialized Agreement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11274552" cy="127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5486400" cy="93268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08760"/>
            <a:ext cx="54864" cy="932688"/>
          </a:xfrm>
          <a:prstGeom prst="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600200"/>
            <a:ext cx="5321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6EDF3"/>
                </a:solidFill>
              </a:rPr>
              <a:t>Epidemic ballot voting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856232"/>
            <a:ext cx="532180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B949E"/>
                </a:solidFill>
              </a:rPr>
              <a:t>CASPaxos-adjacent. No Raft leader. Concurrent writes to the same key are totally ordered by ballot number.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514600"/>
            <a:ext cx="5486400" cy="93268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514600"/>
            <a:ext cx="54864" cy="932688"/>
          </a:xfrm>
          <a:prstGeom prst="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606040"/>
            <a:ext cx="5321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6EDF3"/>
                </a:solidFill>
              </a:rPr>
              <a:t>consistent_set / consistent_get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2862072"/>
            <a:ext cx="532180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B949E"/>
                </a:solidFill>
              </a:rPr>
              <a:t>Ballot-serialized write runs a consensus round. consistent_get is a local read — may lag by one anti-entropy round.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520440"/>
            <a:ext cx="5486400" cy="93268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520440"/>
            <a:ext cx="54864" cy="932688"/>
          </a:xfrm>
          <a:prstGeom prst="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611880"/>
            <a:ext cx="5321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6EDF3"/>
                </a:solidFill>
              </a:rPr>
              <a:t>distributed_lock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3867912"/>
            <a:ext cx="532180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B949E"/>
                </a:solidFill>
              </a:rPr>
              <a:t>Acquires a named cluster lock via consensus. Returns a LockGuard with a monotonic fencing token.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526280"/>
            <a:ext cx="5486400" cy="93268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4526280"/>
            <a:ext cx="54864" cy="932688"/>
          </a:xfrm>
          <a:prstGeom prst="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4617720"/>
            <a:ext cx="5321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6EDF3"/>
                </a:solidFill>
              </a:rPr>
              <a:t>elect_leader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4873752"/>
            <a:ext cx="532180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B949E"/>
                </a:solidFill>
              </a:rPr>
              <a:t>One-shot election for a group. All nodes calling concurrently converge on the same winner.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1508760"/>
            <a:ext cx="5303520" cy="18288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0" y="1508760"/>
            <a:ext cx="54864" cy="1828800"/>
          </a:xfrm>
          <a:prstGeom prst="rect">
            <a:avLst/>
          </a:prstGeom>
          <a:solidFill>
            <a:srgbClr val="FFA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10528" y="1600200"/>
            <a:ext cx="5138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6EDF3"/>
                </a:solidFill>
              </a:rPr>
              <a:t>Cross-group federation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1856232"/>
            <a:ext cx="5138928" cy="1426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B949E"/>
                </a:solidFill>
              </a:rPr>
              <a:t>cross_group_propose + GroupQuorum — multiple groups each act as an independent voting bloc.
Models multi-AZ durability gates, compliance ratification, and hierarchical approval.
Commits only when every group individually reaches its quorum fraction.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3474720"/>
            <a:ext cx="5303520" cy="502920"/>
          </a:xfrm>
          <a:prstGeom prst="rect">
            <a:avLst/>
          </a:prstGeom>
          <a:solidFill>
            <a:srgbClr val="1C2128"/>
          </a:solidFill>
          <a:ln w="12700">
            <a:solidFill>
              <a:srgbClr val="D2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0" y="3474720"/>
            <a:ext cx="38100" cy="502920"/>
          </a:xfrm>
          <a:prstGeom prst="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10528" y="35661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C9D1D9"/>
                </a:solidFill>
              </a:rPr>
              <a:t>Why not Raft: Raft requires a stable leader. Agent fleets have constant churn. Epidemic consensus tolerates node turnover without stalling progress.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A657"/>
                </a:solidFill>
              </a:rPr>
              <a:t>APPENDIX A5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1672" y="16459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B949E"/>
                </a:solidFill>
              </a:rPr>
              <a:t>20 / 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6EDF3"/>
                </a:solidFill>
              </a:rPr>
              <a:t>Security 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07008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58A6FF"/>
                </a:solidFill>
              </a:rPr>
              <a:t>Transport · Identity · Integrity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11274552" cy="127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5486400" cy="13258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08760"/>
            <a:ext cx="54864" cy="1325880"/>
          </a:xfrm>
          <a:prstGeom prst="rect">
            <a:avLst/>
          </a:prstGeom>
          <a:solidFill>
            <a:srgbClr val="FF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600200"/>
            <a:ext cx="5321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6EDF3"/>
                </a:solidFill>
              </a:rPr>
              <a:t>mTLS transport  (--features tls)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856232"/>
            <a:ext cx="5321808" cy="923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B949E"/>
                </a:solidFill>
              </a:rPr>
              <a:t>Mutual TLS on every gossip TCP connection. External attackers cannot inject or intercept frames. All TLS code compiles away without the feature flag.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508760"/>
            <a:ext cx="5486400" cy="13258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508760"/>
            <a:ext cx="54864" cy="1325880"/>
          </a:xfrm>
          <a:prstGeom prst="rect">
            <a:avLst/>
          </a:prstGeom>
          <a:solidFill>
            <a:srgbClr val="FF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8" y="1600200"/>
            <a:ext cx="5321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6EDF3"/>
                </a:solidFill>
              </a:rPr>
              <a:t>Ed25519 node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7648" y="1856232"/>
            <a:ext cx="5321808" cy="923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B949E"/>
                </a:solidFill>
              </a:rPr>
              <a:t>Each node generates an Ed25519 keypair at startup. Same keypair serves as mTLS identity, gossips into sys/identity/{node}, and signs consensus payloads.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926080"/>
            <a:ext cx="5486400" cy="13258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926080"/>
            <a:ext cx="54864" cy="1325880"/>
          </a:xfrm>
          <a:prstGeom prst="rect">
            <a:avLst/>
          </a:prstGeom>
          <a:solidFill>
            <a:srgbClr val="FF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017520"/>
            <a:ext cx="5321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6EDF3"/>
                </a:solidFill>
              </a:rPr>
              <a:t>Wire v11 — KV write signing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3273552"/>
            <a:ext cx="5321808" cy="923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B949E"/>
                </a:solidFill>
              </a:rPr>
              <a:t>WireMessage::SignedData — Ed25519 signature over key, value, timestamp, tombstone flag, and sender. A compromised node cannot inject false KV entries.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2926080"/>
            <a:ext cx="5486400" cy="13258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2926080"/>
            <a:ext cx="54864" cy="1325880"/>
          </a:xfrm>
          <a:prstGeom prst="rect">
            <a:avLst/>
          </a:prstGeom>
          <a:solidFill>
            <a:srgbClr val="FFA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27648" y="3017520"/>
            <a:ext cx="5321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6EDF3"/>
                </a:solidFill>
              </a:rPr>
              <a:t>HTTP gateway security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3273552"/>
            <a:ext cx="5321808" cy="923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B949E"/>
                </a:solidFill>
              </a:rPr>
              <a:t>No auth by default — bind to loopback or set gateway_auth_token. /health, /ready, /metrics intentionally public for load-balancer probes.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A657"/>
                </a:solidFill>
              </a:rPr>
              <a:t>APPENDIX A6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1672" y="16459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B949E"/>
                </a:solidFill>
              </a:rPr>
              <a:t>21 / 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6EDF3"/>
                </a:solidFill>
              </a:rPr>
              <a:t>Observability 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07008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58A6FF"/>
                </a:solidFill>
              </a:rPr>
              <a:t>Visibility Without Overhead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11274552" cy="127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5486400" cy="84124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08760"/>
            <a:ext cx="54864" cy="84124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600200"/>
            <a:ext cx="5321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6EDF3"/>
                </a:solidFill>
              </a:rPr>
              <a:t>Zero-cost metrics facade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856232"/>
            <a:ext cx="532180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B949E"/>
                </a:solidFill>
              </a:rPr>
              <a:t>Uses the metrics crate. No recorder installed = no allocations, no overhead. Enable Prometheus with --features metrics. OTEL-compatible exporters supported.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508760"/>
            <a:ext cx="5486400" cy="84124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508760"/>
            <a:ext cx="54864" cy="84124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8" y="1600200"/>
            <a:ext cx="5321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6EDF3"/>
                </a:solidFill>
              </a:rPr>
              <a:t>Prometheus scrape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7648" y="1856232"/>
            <a:ext cx="532180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B949E"/>
                </a:solidFill>
              </a:rPr>
              <a:t>GET /metrics — standard text format. Compatible with any OpenMetrics collector. Grafana dashboards connect directly.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423160"/>
            <a:ext cx="5486400" cy="84124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423160"/>
            <a:ext cx="54864" cy="84124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2514600"/>
            <a:ext cx="5321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6EDF3"/>
                </a:solidFill>
              </a:rPr>
              <a:t>Key metrics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2770632"/>
            <a:ext cx="532180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B949E"/>
                </a:solidFill>
              </a:rPr>
              <a:t>gossip_messages_received_total · gossip_frames_dropped_total · gossip_store_entries · gossip_peers_connected · signal_emitted_total{scope,kind} · consensus_proposals_total{outcome}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2423160"/>
            <a:ext cx="5486400" cy="84124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2423160"/>
            <a:ext cx="54864" cy="841248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27648" y="2514600"/>
            <a:ext cx="5321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6EDF3"/>
                </a:solidFill>
              </a:rPr>
              <a:t>Readiness gate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2770632"/>
            <a:ext cx="532180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B949E"/>
                </a:solidFill>
              </a:rPr>
              <a:t>GET /ready — 200 once capabilities have gossiped and peers have connected. Use as a Kubernetes readiness probe. is_ready() in Rust.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337560"/>
            <a:ext cx="5486400" cy="84124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3337560"/>
            <a:ext cx="54864" cy="841248"/>
          </a:xfrm>
          <a:prstGeom prst="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3429000"/>
            <a:ext cx="5321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6EDF3"/>
                </a:solidFill>
              </a:rPr>
              <a:t>HLC causal audit trail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3685032"/>
            <a:ext cx="532180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B949E"/>
                </a:solidFill>
              </a:rPr>
              <a:t>Every KV write, signal, and consensus proposal carries an HLC timestamp — a happens-before audit trail across all nodes at no extra cost.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3337560"/>
            <a:ext cx="5486400" cy="84124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17920" y="3337560"/>
            <a:ext cx="54864" cy="841248"/>
          </a:xfrm>
          <a:prstGeom prst="rect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27648" y="3429000"/>
            <a:ext cx="5321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6EDF3"/>
                </a:solidFill>
              </a:rPr>
              <a:t>Graceful shutdown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27648" y="3685032"/>
            <a:ext cx="532180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B949E"/>
                </a:solidFill>
              </a:rPr>
              <a:t>shutdown_with_timeout(Duration) — drains in-flight operations, tombstones capabilities, disconnects peers. Configurable timeout.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A657"/>
                </a:solidFill>
              </a:rPr>
              <a:t>APPENDIX A7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1672" y="16459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B949E"/>
                </a:solidFill>
              </a:rPr>
              <a:t>22 / 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6EDF3"/>
                </a:solidFill>
              </a:rPr>
              <a:t>A2A Adapter &amp;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07008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58A6FF"/>
                </a:solidFill>
              </a:rPr>
              <a:t>Cluster Sharding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11274552" cy="127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5486400" cy="102412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08760"/>
            <a:ext cx="54864" cy="1024128"/>
          </a:xfrm>
          <a:prstGeom prst="rect">
            <a:avLst/>
          </a:prstGeom>
          <a:solidFill>
            <a:srgbClr val="FFA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600200"/>
            <a:ext cx="5321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6EDF3"/>
                </a:solidFill>
              </a:rPr>
              <a:t>A2A protocol (--features a2a)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856232"/>
            <a:ext cx="532180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B949E"/>
                </a:solidFill>
              </a:rPr>
              <a:t>GET /.well-known/agent.json — built live from cap/ KV ring
POST /a2a — JSON-RPC 2.0
tasks/send · tasks/sendSubscribe (SSE) · tasks/get · tasks/cancel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06040"/>
            <a:ext cx="5486400" cy="102412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606040"/>
            <a:ext cx="54864" cy="1024128"/>
          </a:xfrm>
          <a:prstGeom prst="rect">
            <a:avLst/>
          </a:prstGeom>
          <a:solidFill>
            <a:srgbClr val="FFA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697480"/>
            <a:ext cx="5321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6EDF3"/>
                </a:solidFill>
              </a:rPr>
              <a:t>AgentCard is live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2953512"/>
            <a:ext cx="532180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B949E"/>
                </a:solidFill>
              </a:rPr>
              <a:t>The AgentCard is built from the live KV ring. Change a capability and the A2A surface and MCP tool list update automatically — no manual registration.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703320"/>
            <a:ext cx="5486400" cy="102412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703320"/>
            <a:ext cx="54864" cy="1024128"/>
          </a:xfrm>
          <a:prstGeom prst="rect">
            <a:avLst/>
          </a:prstGeom>
          <a:solidFill>
            <a:srgbClr val="FFA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794760"/>
            <a:ext cx="5321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6EDF3"/>
                </a:solidFill>
              </a:rPr>
              <a:t>Cluster sharding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4050792"/>
            <a:ext cx="532180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B949E"/>
                </a:solidFill>
              </a:rPr>
              <a:t>shard_for(key, filter) — FNV-1a consistent hash ring over NodeId.
emit_sharded(kind, key, filter, payload) — deterministic routing, no coordinator.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1508760"/>
            <a:ext cx="5303520" cy="102412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0" y="1508760"/>
            <a:ext cx="54864" cy="1024128"/>
          </a:xfrm>
          <a:prstGeom prst="rect">
            <a:avLst/>
          </a:prstGeom>
          <a:solidFill>
            <a:srgbClr val="FFA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0528" y="1600200"/>
            <a:ext cx="5138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6EDF3"/>
                </a:solidFill>
              </a:rPr>
              <a:t>Enable A2A (Rust)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0528" y="1856232"/>
            <a:ext cx="513892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B949E"/>
                </a:solidFill>
              </a:rPr>
              <a:t>let agent = GossipAgent::builder()
  .with_a2a()
  .build().await?;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2606040"/>
            <a:ext cx="5303520" cy="102412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0" y="2606040"/>
            <a:ext cx="54864" cy="1024128"/>
          </a:xfrm>
          <a:prstGeom prst="rect">
            <a:avLst/>
          </a:prstGeom>
          <a:solidFill>
            <a:srgbClr val="FFA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10528" y="2697480"/>
            <a:ext cx="5138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6EDF3"/>
                </a:solidFill>
              </a:rPr>
              <a:t>Shard routing (Rust)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2953512"/>
            <a:ext cx="513892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B949E"/>
                </a:solidFill>
              </a:rPr>
              <a:t>let owner = agent.service().shard_for(
  'user-12345', &amp;CapFilter::new('compute','gpu'));
agent.service().emit_sharded('render', 'user-12345', &amp;f, payload).await;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3703320"/>
            <a:ext cx="5303520" cy="102412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0" y="3703320"/>
            <a:ext cx="54864" cy="1024128"/>
          </a:xfrm>
          <a:prstGeom prst="rect">
            <a:avLst/>
          </a:prstGeom>
          <a:solidFill>
            <a:srgbClr val="FFA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10528" y="3794760"/>
            <a:ext cx="5138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6EDF3"/>
                </a:solidFill>
              </a:rPr>
              <a:t>Python client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0528" y="4050792"/>
            <a:ext cx="513892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B949E"/>
                </a:solidFill>
              </a:rPr>
              <a:t>from mycelium.a2a import A2aClient
client = A2aClient('http://node:8300')
client.send('llm/chat', 'Hello!')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A657"/>
                </a:solidFill>
              </a:rPr>
              <a:t>APPENDIX A8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1672" y="16459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B949E"/>
                </a:solidFill>
              </a:rPr>
              <a:t>23 / 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6EDF3"/>
                </a:solidFill>
              </a:rPr>
              <a:t>Prompt Skills 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07008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58A6FF"/>
                </a:solidFill>
              </a:rPr>
              <a:t>LLM via the KV 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11274552" cy="127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5486400" cy="12344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08760"/>
            <a:ext cx="54864" cy="123444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600200"/>
            <a:ext cx="5321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6EDF3"/>
                </a:solidFill>
              </a:rPr>
              <a:t>Template in the 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856232"/>
            <a:ext cx="5321808" cy="832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B949E"/>
                </a:solidFill>
              </a:rPr>
              <a:t>prompts/{ns}/{name} — stored cluster-wide, TTL 1 week. Any node reads the template. Live update: swap the template while the skill is running — no restart.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508760"/>
            <a:ext cx="5486400" cy="12344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508760"/>
            <a:ext cx="54864" cy="12344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8" y="1600200"/>
            <a:ext cx="5321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6EDF3"/>
                </a:solidFill>
              </a:rPr>
              <a:t>Model stays node-local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7648" y="1856232"/>
            <a:ext cx="5321808" cy="832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B949E"/>
                </a:solidFill>
              </a:rPr>
              <a:t>The LLM endpoint and API key live in the LlmBackend, compiled into the serving node only. Shared knowledge in the substrate; local expertise in the node.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34640"/>
            <a:ext cx="5486400" cy="12344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834640"/>
            <a:ext cx="54864" cy="1234440"/>
          </a:xfrm>
          <a:prstGeom prst="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2926080"/>
            <a:ext cx="5321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6EDF3"/>
                </a:solidFill>
              </a:rPr>
              <a:t>Backends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3182112"/>
            <a:ext cx="5321808" cy="832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B949E"/>
                </a:solidFill>
              </a:rPr>
              <a:t>OpenAiBackend — any OpenAI-compatible endpoint (OpenAI, Azure, Ollama, vLLM, LM Studio)
EchoBackend — no LLM required; for tests and demos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2834640"/>
            <a:ext cx="5486400" cy="12344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2834640"/>
            <a:ext cx="54864" cy="1234440"/>
          </a:xfrm>
          <a:prstGeom prst="rect">
            <a:avLst/>
          </a:prstGeom>
          <a:solidFill>
            <a:srgbClr val="FFA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27648" y="2926080"/>
            <a:ext cx="5321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6EDF3"/>
                </a:solidFill>
              </a:rPr>
              <a:t>SkillRunner — no Rust needed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3182112"/>
            <a:ext cx="5321808" cy="832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B949E"/>
                </a:solidFill>
              </a:rPr>
              <a:t>Define your skill in a .skill.toml manifest. Same capability gossip, same mesh, zero library code. SkillRunner nodes coexist transparently.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532120"/>
            <a:ext cx="11274552" cy="438912"/>
          </a:xfrm>
          <a:prstGeom prst="rect">
            <a:avLst/>
          </a:prstGeom>
          <a:solidFill>
            <a:srgbClr val="1C2128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5532120"/>
            <a:ext cx="38100" cy="438912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5623560"/>
            <a:ext cx="1109167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C9D1D9"/>
                </a:solidFill>
              </a:rPr>
              <a:t>Demo (no API key): cargo run --example prompt_skill_demo --features llm
Two nodes · EchoBackend · full capability discovery · Python SDK client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A657"/>
                </a:solidFill>
              </a:rPr>
              <a:t>APPENDIX A9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1672" y="16459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B949E"/>
                </a:solidFill>
              </a:rPr>
              <a:t>24 / 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6EDF3"/>
                </a:solidFill>
              </a:rPr>
              <a:t>Semantic Coordination 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07008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58A6FF"/>
                </a:solidFill>
              </a:rPr>
              <a:t>Contracts in the Mesh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11274552" cy="127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5486400" cy="12344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08760"/>
            <a:ext cx="54864" cy="12344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600200"/>
            <a:ext cx="5321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6EDF3"/>
                </a:solidFill>
              </a:rPr>
              <a:t>Capability schema versioning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856232"/>
            <a:ext cx="5321808" cy="832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B949E"/>
                </a:solidFill>
              </a:rPr>
              <a:t>Each capability carries an optional schema_id gossip-propagated with the entry. CapFilter::with_schema('acme-ml/v2') matches only that version — prevents silent mismatches.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508760"/>
            <a:ext cx="5486400" cy="12344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508760"/>
            <a:ext cx="54864" cy="123444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8" y="1600200"/>
            <a:ext cx="5321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6EDF3"/>
                </a:solidFill>
              </a:rPr>
              <a:t>Payload schemas in the 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7648" y="1856232"/>
            <a:ext cx="5321808" cy="832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B949E"/>
                </a:solidFill>
              </a:rPr>
              <a:t>with_input_schema / with_output_schema embed JSON Schema strings in the gossip-propagated capability entry. Callers inspect the contract from resolve() results.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34640"/>
            <a:ext cx="5486400" cy="12344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834640"/>
            <a:ext cx="54864" cy="1234440"/>
          </a:xfrm>
          <a:prstGeom prst="rect">
            <a:avLst/>
          </a:prstGeom>
          <a:solidFill>
            <a:srgbClr val="FF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2926080"/>
            <a:ext cx="5321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6EDF3"/>
                </a:solidFill>
              </a:rPr>
              <a:t>Sender authorization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3182112"/>
            <a:ext cx="5321808" cy="832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B949E"/>
                </a:solidFill>
              </a:rPr>
              <a:t>signal_rx_from(kind, trusted_list) delivers only signals from trusted senders — enforced at fan-out layer. Closes the semantic-injection vector for LLM agents.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2834640"/>
            <a:ext cx="5486400" cy="12344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2834640"/>
            <a:ext cx="54864" cy="1234440"/>
          </a:xfrm>
          <a:prstGeom prst="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27648" y="2926080"/>
            <a:ext cx="5321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6EDF3"/>
                </a:solidFill>
              </a:rPr>
              <a:t>Schema registry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3182112"/>
            <a:ext cx="5321808" cy="832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B949E"/>
                </a:solidFill>
              </a:rPr>
              <a:t>publish_schema(id, bytes) → Published | Unchanged | Conflict
seed_schemas_from_dir('./schemas') — seed all *.json files at startup
get_schema(id) · list_schemas() — catalogue lookup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532120"/>
            <a:ext cx="11274552" cy="438912"/>
          </a:xfrm>
          <a:prstGeom prst="rect">
            <a:avLst/>
          </a:prstGeom>
          <a:solidFill>
            <a:srgbClr val="1C2128"/>
          </a:solidFill>
          <a:ln w="1270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5532120"/>
            <a:ext cx="38100" cy="438912"/>
          </a:xfrm>
          <a:prstGeom prst="rect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5623560"/>
            <a:ext cx="1109167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C9D1D9"/>
                </a:solidFill>
              </a:rPr>
              <a:t>Fully backward-compatible: all fields use #[serde(default)] — existing capabilities decode without change; old nodes ignore richer entries.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